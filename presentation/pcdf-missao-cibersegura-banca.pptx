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d8e2d89964b4b5a" /><Relationship Type="http://schemas.openxmlformats.org/officeDocument/2006/relationships/extended-properties" Target="/docProps/app.xml" Id="R04ce3573ffc64440" /><Relationship Type="http://schemas.openxmlformats.org/officeDocument/2006/relationships/officeDocument" Target="/ppt/presentation.xml" Id="R520f59b6476e441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ad39dcce89f4b53"/>
  </p:sldMasterIdLst>
  <p:notesMasterIdLst>
    <p:notesMasterId xmlns:r="http://schemas.openxmlformats.org/officeDocument/2006/relationships" r:id="R232a799d00b24954"/>
  </p:notesMasterIdLst>
  <p:sldIdLst>
    <p:sldId xmlns:r="http://schemas.openxmlformats.org/officeDocument/2006/relationships" id="256" r:id="R35467ec82c364136"/>
    <p:sldId xmlns:r="http://schemas.openxmlformats.org/officeDocument/2006/relationships" id="257" r:id="R3fd3ac3803ae4967"/>
    <p:sldId xmlns:r="http://schemas.openxmlformats.org/officeDocument/2006/relationships" id="258" r:id="R1f1610ed79eb47b8"/>
    <p:sldId xmlns:r="http://schemas.openxmlformats.org/officeDocument/2006/relationships" id="259" r:id="Ra143a1c8dba54406"/>
    <p:sldId xmlns:r="http://schemas.openxmlformats.org/officeDocument/2006/relationships" id="260" r:id="R0917337386e945eb"/>
    <p:sldId xmlns:r="http://schemas.openxmlformats.org/officeDocument/2006/relationships" id="261" r:id="R029a419e5b1c4c2c"/>
    <p:sldId xmlns:r="http://schemas.openxmlformats.org/officeDocument/2006/relationships" id="262" r:id="Rad7a00846624487d"/>
    <p:sldId xmlns:r="http://schemas.openxmlformats.org/officeDocument/2006/relationships" id="263" r:id="R05279556b9444c98"/>
    <p:sldId xmlns:r="http://schemas.openxmlformats.org/officeDocument/2006/relationships" id="264" r:id="R565b063a60f54dbb"/>
    <p:sldId xmlns:r="http://schemas.openxmlformats.org/officeDocument/2006/relationships" id="265" r:id="Rdf0b97f2964d4999"/>
    <p:sldId xmlns:r="http://schemas.openxmlformats.org/officeDocument/2006/relationships" id="266" r:id="Ra53dcbeaa4354221"/>
    <p:sldId xmlns:r="http://schemas.openxmlformats.org/officeDocument/2006/relationships" id="267" r:id="R8e9c1a758aed45f9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7b8b2b3f82442e3" /><Relationship Type="http://schemas.openxmlformats.org/officeDocument/2006/relationships/slideMaster" Target="/ppt/slideMasters/slideMaster1.xml" Id="R7ad39dcce89f4b53" /><Relationship Type="http://schemas.openxmlformats.org/officeDocument/2006/relationships/notesMaster" Target="/ppt/notesMasters/notesMaster1.xml" Id="R232a799d00b24954" /><Relationship Type="http://schemas.openxmlformats.org/officeDocument/2006/relationships/presProps" Target="/ppt/presProps.xml" Id="R6763bb989a984f51" /><Relationship Type="http://schemas.openxmlformats.org/officeDocument/2006/relationships/tableStyles" Target="/ppt/tableStyles.xml" Id="R82aea57e205e4021" /><Relationship Type="http://schemas.openxmlformats.org/officeDocument/2006/relationships/slide" Target="/ppt/slides/slide1.xml" Id="R35467ec82c364136" /><Relationship Type="http://schemas.openxmlformats.org/officeDocument/2006/relationships/slide" Target="/ppt/slides/slide2.xml" Id="R3fd3ac3803ae4967" /><Relationship Type="http://schemas.openxmlformats.org/officeDocument/2006/relationships/slide" Target="/ppt/slides/slide3.xml" Id="R1f1610ed79eb47b8" /><Relationship Type="http://schemas.openxmlformats.org/officeDocument/2006/relationships/slide" Target="/ppt/slides/slide4.xml" Id="Ra143a1c8dba54406" /><Relationship Type="http://schemas.openxmlformats.org/officeDocument/2006/relationships/slide" Target="/ppt/slides/slide5.xml" Id="R0917337386e945eb" /><Relationship Type="http://schemas.openxmlformats.org/officeDocument/2006/relationships/slide" Target="/ppt/slides/slide6.xml" Id="R029a419e5b1c4c2c" /><Relationship Type="http://schemas.openxmlformats.org/officeDocument/2006/relationships/slide" Target="/ppt/slides/slide7.xml" Id="Rad7a00846624487d" /><Relationship Type="http://schemas.openxmlformats.org/officeDocument/2006/relationships/slide" Target="/ppt/slides/slide8.xml" Id="R05279556b9444c98" /><Relationship Type="http://schemas.openxmlformats.org/officeDocument/2006/relationships/slide" Target="/ppt/slides/slide9.xml" Id="R565b063a60f54dbb" /><Relationship Type="http://schemas.openxmlformats.org/officeDocument/2006/relationships/slide" Target="/ppt/slides/slide10.xml" Id="Rdf0b97f2964d4999" /><Relationship Type="http://schemas.openxmlformats.org/officeDocument/2006/relationships/slide" Target="/ppt/slides/slide11.xml" Id="Ra53dcbeaa4354221" /><Relationship Type="http://schemas.openxmlformats.org/officeDocument/2006/relationships/slide" Target="/ppt/slides/slide12.xml" Id="R8e9c1a758aed45f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c1e6610beeb4f9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146e78d79eb4462" /><Relationship Type="http://schemas.openxmlformats.org/officeDocument/2006/relationships/notesMaster" Target="/ppt/notesMasters/notesMaster1.xml" Id="R0d3af536a8204ed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07e5bfdad704e12" /><Relationship Type="http://schemas.openxmlformats.org/officeDocument/2006/relationships/notesMaster" Target="/ppt/notesMasters/notesMaster1.xml" Id="R6cf3f40f74904fe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9fc6ae0491b4ec6" /><Relationship Type="http://schemas.openxmlformats.org/officeDocument/2006/relationships/notesMaster" Target="/ppt/notesMasters/notesMaster1.xml" Id="R84ab2b95b49446a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a4987853f8642f9" /><Relationship Type="http://schemas.openxmlformats.org/officeDocument/2006/relationships/notesMaster" Target="/ppt/notesMasters/notesMaster1.xml" Id="R27087f2d0d0b448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5c682142bff445d" /><Relationship Type="http://schemas.openxmlformats.org/officeDocument/2006/relationships/notesMaster" Target="/ppt/notesMasters/notesMaster1.xml" Id="R2ad8788dc404495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6237002b68f419d" /><Relationship Type="http://schemas.openxmlformats.org/officeDocument/2006/relationships/notesMaster" Target="/ppt/notesMasters/notesMaster1.xml" Id="R0dcf7187be944f8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e7c7fffc639415a" /><Relationship Type="http://schemas.openxmlformats.org/officeDocument/2006/relationships/notesMaster" Target="/ppt/notesMasters/notesMaster1.xml" Id="R029d2b1a4bd6475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128021e008840eb" /><Relationship Type="http://schemas.openxmlformats.org/officeDocument/2006/relationships/notesMaster" Target="/ppt/notesMasters/notesMaster1.xml" Id="R61d3424d66f84c2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fa0beb7d5cb4567" /><Relationship Type="http://schemas.openxmlformats.org/officeDocument/2006/relationships/notesMaster" Target="/ppt/notesMasters/notesMaster1.xml" Id="Rdb989697bd714ff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13c4754ac7c4a13" /><Relationship Type="http://schemas.openxmlformats.org/officeDocument/2006/relationships/notesMaster" Target="/ppt/notesMasters/notesMaster1.xml" Id="R71ea4096d94b47c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b5894b8fd0441c1" /><Relationship Type="http://schemas.openxmlformats.org/officeDocument/2006/relationships/notesMaster" Target="/ppt/notesMasters/notesMaster1.xml" Id="R3b40298eb6204c14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61b60b3cd3b24549" /><Relationship Type="http://schemas.openxmlformats.org/officeDocument/2006/relationships/notesMaster" Target="/ppt/notesMasters/notesMaster1.xml" Id="Rf3a99c96bbcd431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f5368ba4909420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912007e12fc4175" /><Relationship Type="http://schemas.openxmlformats.org/officeDocument/2006/relationships/slideLayout" Target="/ppt/slideLayouts/slideLayout1.xml" Id="R51ae50909aec4a4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1ae50909aec4a4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0c00e139b8424a" /><Relationship Type="http://schemas.openxmlformats.org/officeDocument/2006/relationships/image" Target="/ppt/media/image.png" Id="R1c2fb38c9fdf4491" /><Relationship Type="http://schemas.openxmlformats.org/officeDocument/2006/relationships/notesSlide" Target="/ppt/notesSlides/notesSlide1.xml" Id="R8043353bbdfb4aa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099fcb17d045aa" /><Relationship Type="http://schemas.openxmlformats.org/officeDocument/2006/relationships/notesSlide" Target="/ppt/notesSlides/notesSlide2.xml" Id="Rdc4cee4a66ed488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387829c46e4f61" /><Relationship Type="http://schemas.openxmlformats.org/officeDocument/2006/relationships/notesSlide" Target="/ppt/notesSlides/notesSlide3.xml" Id="R8de8c51d037943d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3d8d3e3c3a4cbe" /><Relationship Type="http://schemas.openxmlformats.org/officeDocument/2006/relationships/notesSlide" Target="/ppt/notesSlides/notesSlide4.xml" Id="Rd3ecc9b774c147a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3d1af6036a44b8" /><Relationship Type="http://schemas.openxmlformats.org/officeDocument/2006/relationships/image" Target="/ppt/media/image2.png" Id="Rfbda39c0bc6e4294" /><Relationship Type="http://schemas.openxmlformats.org/officeDocument/2006/relationships/notesSlide" Target="/ppt/notesSlides/notesSlide5.xml" Id="R5e852e32c265428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3ff4dbf8934cda" /><Relationship Type="http://schemas.openxmlformats.org/officeDocument/2006/relationships/notesSlide" Target="/ppt/notesSlides/notesSlide6.xml" Id="Rafb57dcea85243b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60403d87524bca" /><Relationship Type="http://schemas.openxmlformats.org/officeDocument/2006/relationships/notesSlide" Target="/ppt/notesSlides/notesSlide7.xml" Id="R335645e3a1cd4b8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85956d297d4cf8" /><Relationship Type="http://schemas.openxmlformats.org/officeDocument/2006/relationships/notesSlide" Target="/ppt/notesSlides/notesSlide8.xml" Id="R17ff33e2790f4c7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e48959ad4e4868" /><Relationship Type="http://schemas.openxmlformats.org/officeDocument/2006/relationships/notesSlide" Target="/ppt/notesSlides/notesSlide9.xml" Id="R41322c5ba44c4af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94c4d39b2e4235" /><Relationship Type="http://schemas.openxmlformats.org/officeDocument/2006/relationships/notesSlide" Target="/ppt/notesSlides/notesSlide10.xml" Id="R92a43777f7194db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f2586210d4473c" /><Relationship Type="http://schemas.openxmlformats.org/officeDocument/2006/relationships/notesSlide" Target="/ppt/notesSlides/notesSlide11.xml" Id="R94ce269d86f1475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caf02c1d8b4c11" /><Relationship Type="http://schemas.openxmlformats.org/officeDocument/2006/relationships/notesSlide" Target="/ppt/notesSlides/notesSlide12.xml" Id="Ra72c26af73304cf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81F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c2fb38c9fdf4491"/>
          <a:stretch xmlns:a="http://schemas.openxmlformats.org/drawingml/2006/main"/>
        </p:blipFill>
        <p:spPr>
          <a:xfrm xmlns:a="http://schemas.openxmlformats.org/drawingml/2006/main">
            <a:off x="6191250" y="1741289"/>
            <a:ext cx="6000750" cy="3375422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C95E8D-597F-4FF3-B5A7-3A7DA644B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0"/>
            <a:ext cx="1619250" cy="68580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9F50A9-CD57-437D-91CD-48FD84D73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28575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AC32D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081F3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81F3A"/>
                </a:solidFill>
                <a:latin typeface="Aptos"/>
                <a:ea typeface="Aptos"/>
                <a:cs typeface="Aptos"/>
              </a:rPr>
              <a:t>PROJETO ACADEMICO - NAO OFICIAL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DA37F0-337F-4649-912F-E427337D6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5238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050" b="1">
                <a:solidFill>
                  <a:srgbClr val="F4F7F8"/>
                </a:solidFill>
                <a:latin typeface="Aptos Display"/>
                <a:ea typeface="Aptos Display"/>
                <a:cs typeface="Aptos Display"/>
              </a:defRPr>
            </a:pPr>
            <a:r>
              <a:rPr sz="4050" b="1">
                <a:solidFill>
                  <a:srgbClr val="F4F7F8"/>
                </a:solidFill>
                <a:latin typeface="Aptos Display"/>
                <a:ea typeface="Aptos Display"/>
                <a:cs typeface="Aptos Display"/>
              </a:rPr>
              <a:t>PCDF: MISSAO</a:t>
            </a:r>
          </a:p>
          <a:p xmlns:a="http://schemas.openxmlformats.org/drawingml/2006/main">
            <a:pPr algn="l">
              <a:buNone/>
              <a:defRPr sz="4050" b="1">
                <a:solidFill>
                  <a:srgbClr val="F4F7F8"/>
                </a:solidFill>
                <a:latin typeface="Aptos Display"/>
                <a:ea typeface="Aptos Display"/>
                <a:cs typeface="Aptos Display"/>
              </a:defRPr>
            </a:pPr>
            <a:r>
              <a:rPr sz="4050" b="1">
                <a:solidFill>
                  <a:srgbClr val="F4F7F8"/>
                </a:solidFill>
                <a:latin typeface="Aptos Display"/>
                <a:ea typeface="Aptos Display"/>
                <a:cs typeface="Aptos Display"/>
              </a:rPr>
              <a:t>CIBERSEGURA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5D24F9-1B3A-439B-AE2D-06A07E098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4953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37E5C1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37E5C1"/>
                </a:solidFill>
                <a:latin typeface="Aptos Display"/>
                <a:ea typeface="Aptos Display"/>
                <a:cs typeface="Aptos Display"/>
              </a:rPr>
              <a:t>Aprender a parar, verificar, preservar e pedir ajuda.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1179D0-ABD8-4060-8FEF-9154E90C5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4762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B9CED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B9CEDA"/>
                </a:solidFill>
                <a:latin typeface="Aptos"/>
                <a:ea typeface="Aptos"/>
                <a:cs typeface="Aptos"/>
              </a:rPr>
              <a:t>Jogo educativo em C + raylib para adolescentes conectados - Internet.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324BDFE-2FC9-45F3-9E1B-8500B19AB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293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4F7F8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4F7F8"/>
                </a:solidFill>
                <a:latin typeface="Aptos Display"/>
                <a:ea typeface="Aptos Display"/>
                <a:cs typeface="Aptos Display"/>
              </a:rPr>
              <a:t>Banca academica - 2026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D7AFA6-DE1F-4A85-B425-935988BFB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990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B9CEDA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B9CEDA"/>
                </a:solidFill>
                <a:latin typeface="Aptos"/>
                <a:ea typeface="Aptos"/>
                <a:cs typeface="Aptos"/>
              </a:rPr>
              <a:t>Captura gerada pelo executavel - sem uso de logotipo oficial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A90B9B-3CBB-47B2-AB9B-AD0717209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37E5C1"/>
                </a:solidFill>
                <a:latin typeface="Aptos Display"/>
                <a:ea typeface="Aptos Display"/>
                <a:cs typeface="Aptos Display"/>
              </a:defRPr>
            </a:pPr>
            <a:r>
              <a:rPr sz="900" b="1">
                <a:solidFill>
                  <a:srgbClr val="37E5C1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71171864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81F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DF00105-A731-4A2C-AFA4-2B517BF37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37E5C1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37E5C1"/>
                </a:solidFill>
                <a:latin typeface="Aptos Display"/>
                <a:ea typeface="Aptos Display"/>
                <a:cs typeface="Aptos Display"/>
              </a:rPr>
              <a:t>PROBLEMA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E6EF98-44CB-46E7-B908-DDB967729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6200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F4F7F8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4F7F8"/>
                </a:solidFill>
                <a:latin typeface="Aptos Display"/>
                <a:ea typeface="Aptos Display"/>
                <a:cs typeface="Aptos Display"/>
              </a:rPr>
              <a:t>O risco chega disfarcado de rotina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BB597D-19A6-45FB-95CD-B593799C4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33500"/>
            <a:ext cx="1066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B9CEDA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B9CEDA"/>
                </a:solidFill>
                <a:latin typeface="Aptos"/>
                <a:ea typeface="Aptos"/>
                <a:cs typeface="Aptos"/>
              </a:rPr>
              <a:t>Urgencia, confianca e pressao social comprimem o tempo de decisao.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4972893-84EB-4E1C-BD3A-2944B3298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3238500" cy="1809750"/>
          </a:xfrm>
          <a:prstGeom xmlns:a="http://schemas.openxmlformats.org/drawingml/2006/main" prst="roundRect">
            <a:avLst>
              <a:gd name="adj" fmla="val 8421"/>
            </a:avLst>
          </a:prstGeom>
          <a:solidFill xmlns:a="http://schemas.openxmlformats.org/drawingml/2006/main">
            <a:srgbClr val="123957"/>
          </a:solidFill>
          <a:ln xmlns:a="http://schemas.openxmlformats.org/drawingml/2006/main" w="19050">
            <a:solidFill>
              <a:srgbClr val="24506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F76CD4-264A-4BBF-B3AD-5E3DB6915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266950"/>
            <a:ext cx="2819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AC32D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FAC32D"/>
                </a:solidFill>
                <a:latin typeface="Aptos Display"/>
                <a:ea typeface="Aptos Display"/>
                <a:cs typeface="Aptos Display"/>
              </a:rPr>
              <a:t>12-17 anos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E35247-8ABB-4748-8C31-25808D9A4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647950"/>
            <a:ext cx="28194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F4F7F8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F4F7F8"/>
                </a:solidFill>
                <a:latin typeface="Aptos"/>
                <a:ea typeface="Aptos"/>
                <a:cs typeface="Aptos"/>
              </a:rPr>
              <a:t>Publico principal, com niveis diferentes de leitura, experiencia e acesso.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2A5815E-3C32-4DD3-897E-CD9DA697F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095500"/>
            <a:ext cx="3238500" cy="1809750"/>
          </a:xfrm>
          <a:prstGeom xmlns:a="http://schemas.openxmlformats.org/drawingml/2006/main" prst="roundRect">
            <a:avLst>
              <a:gd name="adj" fmla="val 8421"/>
            </a:avLst>
          </a:prstGeom>
          <a:solidFill xmlns:a="http://schemas.openxmlformats.org/drawingml/2006/main">
            <a:srgbClr val="123957"/>
          </a:solidFill>
          <a:ln xmlns:a="http://schemas.openxmlformats.org/drawingml/2006/main" w="19050">
            <a:solidFill>
              <a:srgbClr val="24506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4B04F0-6B4F-4743-9AA2-B01F4EA2B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266950"/>
            <a:ext cx="2819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37E5C1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37E5C1"/>
                </a:solidFill>
                <a:latin typeface="Aptos Display"/>
                <a:ea typeface="Aptos Display"/>
                <a:cs typeface="Aptos Display"/>
              </a:rPr>
              <a:t>HIPOTESE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7E4C57-8A59-480E-A9B6-BE15C911F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647950"/>
            <a:ext cx="28194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F4F7F8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F4F7F8"/>
                </a:solidFill>
                <a:latin typeface="Aptos"/>
                <a:ea typeface="Aptos"/>
                <a:cs typeface="Aptos"/>
              </a:rPr>
              <a:t>Pratica + feedback contextual melhoram reconhecimento quando comparados - exposicao passiva.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32537FD-9141-488B-9469-B40592BD5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095500"/>
            <a:ext cx="3238500" cy="1809750"/>
          </a:xfrm>
          <a:prstGeom xmlns:a="http://schemas.openxmlformats.org/drawingml/2006/main" prst="roundRect">
            <a:avLst>
              <a:gd name="adj" fmla="val 8421"/>
            </a:avLst>
          </a:prstGeom>
          <a:solidFill xmlns:a="http://schemas.openxmlformats.org/drawingml/2006/main">
            <a:srgbClr val="123957"/>
          </a:solidFill>
          <a:ln xmlns:a="http://schemas.openxmlformats.org/drawingml/2006/main" w="19050">
            <a:solidFill>
              <a:srgbClr val="24506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A4F495F-FED2-4DD4-B421-7C6BAA8D5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266950"/>
            <a:ext cx="2819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D7364F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D7364F"/>
                </a:solidFill>
                <a:latin typeface="Aptos Display"/>
                <a:ea typeface="Aptos Display"/>
                <a:cs typeface="Aptos Display"/>
              </a:rPr>
              <a:t>PRINCIPIO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EF1D1B-CC92-4C63-9AFB-4829A55D2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647950"/>
            <a:ext cx="28194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F4F7F8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F4F7F8"/>
                </a:solidFill>
                <a:latin typeface="Aptos"/>
                <a:ea typeface="Aptos"/>
                <a:cs typeface="Aptos"/>
              </a:rPr>
              <a:t>Prevencao sem culpa: o crime - responsabilidade de quem o pratica.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BB28ADC-BB0F-45B4-89E9-5D09987FA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05300"/>
            <a:ext cx="10820400" cy="142875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184877"/>
          </a:solidFill>
          <a:ln xmlns:a="http://schemas.openxmlformats.org/drawingml/2006/main" w="19050">
            <a:solidFill>
              <a:srgbClr val="2D638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F51A226-A30F-4B04-BD9A-49BEEDA60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55295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FAC32D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AC32D"/>
                </a:solidFill>
                <a:latin typeface="Aptos Display"/>
                <a:ea typeface="Aptos Display"/>
                <a:cs typeface="Aptos Display"/>
              </a:rPr>
              <a:t>Job to be Done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FA027EE-4BA2-4DA8-A4AE-15FD3B21D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972050"/>
            <a:ext cx="9810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F4F7F8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F4F7F8"/>
                </a:solidFill>
                <a:latin typeface="Aptos Display"/>
                <a:ea typeface="Aptos Display"/>
                <a:cs typeface="Aptos Display"/>
              </a:rPr>
              <a:t>-Quando algo estranho surgir online, quero reconhecer o sinal e saber meu proximo passo.-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3D54003-2CDB-4360-9505-85E6C83EF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990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B9CEDA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B9CEDA"/>
                </a:solidFill>
                <a:latin typeface="Aptos"/>
                <a:ea typeface="Aptos"/>
                <a:cs typeface="Aptos"/>
              </a:rPr>
              <a:t>Artefatos do projeto - metas propostas, nao resultados medidos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6DE30F6-A4C2-4C50-81CB-FF077EA27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37E5C1"/>
                </a:solidFill>
                <a:latin typeface="Aptos Display"/>
                <a:ea typeface="Aptos Display"/>
                <a:cs typeface="Aptos Display"/>
              </a:defRPr>
            </a:pPr>
            <a:r>
              <a:rPr sz="900" b="1">
                <a:solidFill>
                  <a:srgbClr val="37E5C1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53086252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81F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73BFC67-C1E8-4CC7-AF07-F6158475E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37E5C1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37E5C1"/>
                </a:solidFill>
                <a:latin typeface="Aptos Display"/>
                <a:ea typeface="Aptos Display"/>
                <a:cs typeface="Aptos Display"/>
              </a:rPr>
              <a:t>PRODUTO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0398C2-966F-4534-8127-B69FF1109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6200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F4F7F8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4F7F8"/>
                </a:solidFill>
                <a:latin typeface="Aptos Display"/>
                <a:ea typeface="Aptos Display"/>
                <a:cs typeface="Aptos Display"/>
              </a:rPr>
              <a:t>Uma missao curta transforma orientacao em acao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9EA9AE7-5A12-4014-A74E-335883E63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33500"/>
            <a:ext cx="1066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B9CEDA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B9CEDA"/>
                </a:solidFill>
                <a:latin typeface="Aptos"/>
                <a:ea typeface="Aptos"/>
                <a:cs typeface="Aptos"/>
              </a:rPr>
              <a:t>O mundo pausa na dica: leitura faz parte da meta, nao - decoracao.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7B7AF8-A37F-4F57-97B2-D011342A3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81250"/>
            <a:ext cx="1809750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123957"/>
          </a:solidFill>
          <a:ln xmlns:a="http://schemas.openxmlformats.org/drawingml/2006/main" w="19050">
            <a:solidFill>
              <a:srgbClr val="2D638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E55971-7732-49C4-B965-E31B51E03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571750"/>
            <a:ext cx="4000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7E5C1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081F3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81F3A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55EBB4-196F-4C0A-8892-852865B46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095625"/>
            <a:ext cx="1466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F4F7F8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4F7F8"/>
                </a:solidFill>
                <a:latin typeface="Aptos Display"/>
                <a:ea typeface="Aptos Display"/>
                <a:cs typeface="Aptos Display"/>
              </a:rPr>
              <a:t>EXPLORAR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C0729A-FC51-4625-85C5-F4B3FF32C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524250"/>
            <a:ext cx="14668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B9CED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B9CEDA"/>
                </a:solidFill>
                <a:latin typeface="Aptos"/>
                <a:ea typeface="Aptos"/>
                <a:cs typeface="Aptos"/>
              </a:rPr>
              <a:t>5 fases do DF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1B295C3-A773-4C88-BFC9-0F4D87CEF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3067050"/>
            <a:ext cx="28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37E5C1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37E5C1"/>
                </a:solidFill>
                <a:latin typeface="Aptos Display"/>
                <a:ea typeface="Aptos Display"/>
                <a:cs typeface="Aptos Display"/>
              </a:rPr>
              <a:t>-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7A2E24-4DCF-4EF2-B490-11829EA26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381250"/>
            <a:ext cx="1809750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123957"/>
          </a:solidFill>
          <a:ln xmlns:a="http://schemas.openxmlformats.org/drawingml/2006/main" w="19050">
            <a:solidFill>
              <a:srgbClr val="2D638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B64C628-3A72-46DB-95D8-D7B5C3050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2571750"/>
            <a:ext cx="4000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7E5C1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081F3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81F3A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7FC62BA-FBA7-4D82-AB0E-786F1DBF7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095625"/>
            <a:ext cx="1466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F4F7F8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4F7F8"/>
                </a:solidFill>
                <a:latin typeface="Aptos Display"/>
                <a:ea typeface="Aptos Display"/>
                <a:cs typeface="Aptos Display"/>
              </a:rPr>
              <a:t>IDENTIFICAR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EBF0149-7FDF-4C11-ACCA-B0D0C2C28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524250"/>
            <a:ext cx="14668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B9CED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B9CEDA"/>
                </a:solidFill>
                <a:latin typeface="Aptos"/>
                <a:ea typeface="Aptos"/>
                <a:cs typeface="Aptos"/>
              </a:rPr>
              <a:t>Sinal de risco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028FC55-5437-4945-B94B-BE9313DF8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067050"/>
            <a:ext cx="28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37E5C1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37E5C1"/>
                </a:solidFill>
                <a:latin typeface="Aptos Display"/>
                <a:ea typeface="Aptos Display"/>
                <a:cs typeface="Aptos Display"/>
              </a:rPr>
              <a:t>-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48C9346-BAAC-4CC8-B67F-01219D729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381250"/>
            <a:ext cx="1809750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123957"/>
          </a:solidFill>
          <a:ln xmlns:a="http://schemas.openxmlformats.org/drawingml/2006/main" w="19050">
            <a:solidFill>
              <a:srgbClr val="2D638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C7EED63-B0D7-4D32-B8F0-AFFA6695C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571750"/>
            <a:ext cx="4000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7E5C1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081F3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81F3A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6768FEA-B6BD-43C4-AF27-F96234CB9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3095625"/>
            <a:ext cx="1466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F4F7F8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4F7F8"/>
                </a:solidFill>
                <a:latin typeface="Aptos Display"/>
                <a:ea typeface="Aptos Display"/>
                <a:cs typeface="Aptos Display"/>
              </a:rPr>
              <a:t>ESCANEAR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EDE3A84-BFB7-4F79-AA77-478EB13F5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3524250"/>
            <a:ext cx="14668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B9CED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B9CEDA"/>
                </a:solidFill>
                <a:latin typeface="Aptos"/>
                <a:ea typeface="Aptos"/>
                <a:cs typeface="Aptos"/>
              </a:rPr>
              <a:t>Conter sem armas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A941AE3-C8D2-41D9-83FF-810FAE9B4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067050"/>
            <a:ext cx="28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37E5C1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37E5C1"/>
                </a:solidFill>
                <a:latin typeface="Aptos Display"/>
                <a:ea typeface="Aptos Display"/>
                <a:cs typeface="Aptos Display"/>
              </a:rPr>
              <a:t>-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BA1ED7F-6C1C-4159-A924-FFA2EE8FB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381250"/>
            <a:ext cx="1809750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123957"/>
          </a:solidFill>
          <a:ln xmlns:a="http://schemas.openxmlformats.org/drawingml/2006/main" w="19050">
            <a:solidFill>
              <a:srgbClr val="2D638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2528570-80F7-4022-8F05-121024C19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571750"/>
            <a:ext cx="4000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7E5C1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081F3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81F3A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7AE3EDB-3DBB-41C7-B213-09EFAFD45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3095625"/>
            <a:ext cx="1466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F4F7F8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4F7F8"/>
                </a:solidFill>
                <a:latin typeface="Aptos Display"/>
                <a:ea typeface="Aptos Display"/>
                <a:cs typeface="Aptos Display"/>
              </a:rPr>
              <a:t>APRENDER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2AF1BD7-AF26-4EC8-8A44-FF2CF7B72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3524250"/>
            <a:ext cx="14668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B9CED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B9CEDA"/>
                </a:solidFill>
                <a:latin typeface="Aptos"/>
                <a:ea typeface="Aptos"/>
                <a:cs typeface="Aptos"/>
              </a:rPr>
              <a:t>Tres acoes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6CE450A-B9F9-417A-AF6F-C397FC06C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067050"/>
            <a:ext cx="28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37E5C1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37E5C1"/>
                </a:solidFill>
                <a:latin typeface="Aptos Display"/>
                <a:ea typeface="Aptos Display"/>
                <a:cs typeface="Aptos Display"/>
              </a:rPr>
              <a:t>-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00CD7C1-557F-4B5E-BDEE-876C0A4AD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381250"/>
            <a:ext cx="1809750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184877"/>
          </a:solidFill>
          <a:ln xmlns:a="http://schemas.openxmlformats.org/drawingml/2006/main" w="19050">
            <a:solidFill>
              <a:srgbClr val="2D638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9E9F91D-7E29-4276-A331-CB4C0C3A8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2571750"/>
            <a:ext cx="4000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AC32D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081F3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81F3A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A3CB32C-AF25-4844-994E-95E0C509A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3095625"/>
            <a:ext cx="1466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F4F7F8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4F7F8"/>
                </a:solidFill>
                <a:latin typeface="Aptos Display"/>
                <a:ea typeface="Aptos Display"/>
                <a:cs typeface="Aptos Display"/>
              </a:rPr>
              <a:t>CONCLUIR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49FB782-B20E-4A84-A225-B08A6D5F9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3524250"/>
            <a:ext cx="14668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B9CED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B9CEDA"/>
                </a:solidFill>
                <a:latin typeface="Aptos"/>
                <a:ea typeface="Aptos"/>
                <a:cs typeface="Aptos"/>
              </a:rPr>
              <a:t>Protocolo final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9B42183-AEA2-45EB-8FDC-5A06A9787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810125"/>
            <a:ext cx="857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FAC32D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FAC32D"/>
                </a:solidFill>
                <a:latin typeface="Aptos Display"/>
                <a:ea typeface="Aptos Display"/>
                <a:cs typeface="Aptos Display"/>
              </a:rPr>
              <a:t>Meta: investigar 20 ocorrencias, ler cada orientacao e chegar - sintese final.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D19275F-D945-4DB0-9B48-260FB35DC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990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B9CEDA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B9CEDA"/>
                </a:solidFill>
                <a:latin typeface="Aptos"/>
                <a:ea typeface="Aptos"/>
                <a:cs typeface="Aptos"/>
              </a:rPr>
              <a:t>Artefatos do projeto - metas propostas, nao resultados medidos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A5C76D1-1116-4004-9D32-64625866F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37E5C1"/>
                </a:solidFill>
                <a:latin typeface="Aptos Display"/>
                <a:ea typeface="Aptos Display"/>
                <a:cs typeface="Aptos Display"/>
              </a:defRPr>
            </a:pPr>
            <a:r>
              <a:rPr sz="900" b="1">
                <a:solidFill>
                  <a:srgbClr val="37E5C1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44007008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81F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491E15A-4F58-4D77-A5B7-3AC3CA5E4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37E5C1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37E5C1"/>
                </a:solidFill>
                <a:latin typeface="Aptos Display"/>
                <a:ea typeface="Aptos Display"/>
                <a:cs typeface="Aptos Display"/>
              </a:rPr>
              <a:t>CONTEUDO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6B9693-BAF7-415A-84CF-2ACDAAFBA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6200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F4F7F8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4F7F8"/>
                </a:solidFill>
                <a:latin typeface="Aptos Display"/>
                <a:ea typeface="Aptos Display"/>
                <a:cs typeface="Aptos Display"/>
              </a:rPr>
              <a:t>15 categorias em grupos visuais de risco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03D6EE-BFFF-4E9B-A5B9-95DA08061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33500"/>
            <a:ext cx="1066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B9CEDA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B9CEDA"/>
                </a:solidFill>
                <a:latin typeface="Aptos"/>
                <a:ea typeface="Aptos"/>
                <a:cs typeface="Aptos"/>
              </a:rPr>
              <a:t>Cada encontro ensina reconhecimento, prevencao, preservacao de evidencias e pedido de ajuda.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967ADB-7100-42CE-9F71-33373CA3F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47875"/>
            <a:ext cx="2476500" cy="1381125"/>
          </a:xfrm>
          <a:prstGeom xmlns:a="http://schemas.openxmlformats.org/drawingml/2006/main" prst="roundRect">
            <a:avLst>
              <a:gd name="adj" fmla="val 11034"/>
            </a:avLst>
          </a:prstGeom>
          <a:solidFill xmlns:a="http://schemas.openxmlformats.org/drawingml/2006/main">
            <a:srgbClr val="123957"/>
          </a:solidFill>
          <a:ln xmlns:a="http://schemas.openxmlformats.org/drawingml/2006/main" w="19050">
            <a:solidFill>
              <a:srgbClr val="24506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10066D-0A63-4F14-97CA-C677812E3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219325"/>
            <a:ext cx="2057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37E5C1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37E5C1"/>
                </a:solidFill>
                <a:latin typeface="Aptos Display"/>
                <a:ea typeface="Aptos Display"/>
                <a:cs typeface="Aptos Display"/>
              </a:rPr>
              <a:t>PHISHING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F14FA02-77C4-42F1-84D6-EB8C2B6D6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600325"/>
            <a:ext cx="20574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F4F7F8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F4F7F8"/>
                </a:solidFill>
                <a:latin typeface="Aptos"/>
                <a:ea typeface="Aptos"/>
                <a:cs typeface="Aptos"/>
              </a:rPr>
              <a:t>remetente - URL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F3F18F3-E514-49D6-8734-0A54AB22F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047875"/>
            <a:ext cx="2476500" cy="1381125"/>
          </a:xfrm>
          <a:prstGeom xmlns:a="http://schemas.openxmlformats.org/drawingml/2006/main" prst="roundRect">
            <a:avLst>
              <a:gd name="adj" fmla="val 11034"/>
            </a:avLst>
          </a:prstGeom>
          <a:solidFill xmlns:a="http://schemas.openxmlformats.org/drawingml/2006/main">
            <a:srgbClr val="123957"/>
          </a:solidFill>
          <a:ln xmlns:a="http://schemas.openxmlformats.org/drawingml/2006/main" w="19050">
            <a:solidFill>
              <a:srgbClr val="24506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BBE7E8D-25C0-4CC9-94D2-D16FCDBEC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219325"/>
            <a:ext cx="2057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37E5C1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37E5C1"/>
                </a:solidFill>
                <a:latin typeface="Aptos Display"/>
                <a:ea typeface="Aptos Display"/>
                <a:cs typeface="Aptos Display"/>
              </a:rPr>
              <a:t>MALWARE / WI-FI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0B46938-7BCB-467F-8790-02673E275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600325"/>
            <a:ext cx="20574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F4F7F8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F4F7F8"/>
                </a:solidFill>
                <a:latin typeface="Aptos"/>
                <a:ea typeface="Aptos"/>
                <a:cs typeface="Aptos"/>
              </a:rPr>
              <a:t>arquivo - rede falsa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8A660DA-ED6B-4892-8043-40EBB44F7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047875"/>
            <a:ext cx="2476500" cy="1381125"/>
          </a:xfrm>
          <a:prstGeom xmlns:a="http://schemas.openxmlformats.org/drawingml/2006/main" prst="roundRect">
            <a:avLst>
              <a:gd name="adj" fmla="val 11034"/>
            </a:avLst>
          </a:prstGeom>
          <a:solidFill xmlns:a="http://schemas.openxmlformats.org/drawingml/2006/main">
            <a:srgbClr val="123957"/>
          </a:solidFill>
          <a:ln xmlns:a="http://schemas.openxmlformats.org/drawingml/2006/main" w="19050">
            <a:solidFill>
              <a:srgbClr val="24506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E01A39C-5A0F-45A1-B9C1-4A3583FE0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219325"/>
            <a:ext cx="2057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37E5C1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37E5C1"/>
                </a:solidFill>
                <a:latin typeface="Aptos Display"/>
                <a:ea typeface="Aptos Display"/>
                <a:cs typeface="Aptos Display"/>
              </a:rPr>
              <a:t>PERFIL/ALICIAMENTO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1430E69-8236-4C97-8863-1EF899385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600325"/>
            <a:ext cx="20574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F4F7F8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F4F7F8"/>
                </a:solidFill>
                <a:latin typeface="Aptos"/>
                <a:ea typeface="Aptos"/>
                <a:cs typeface="Aptos"/>
              </a:rPr>
              <a:t>identidade - adulto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964970B-356B-4FF9-ACE7-007D2965C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047875"/>
            <a:ext cx="2476500" cy="1381125"/>
          </a:xfrm>
          <a:prstGeom xmlns:a="http://schemas.openxmlformats.org/drawingml/2006/main" prst="roundRect">
            <a:avLst>
              <a:gd name="adj" fmla="val 11034"/>
            </a:avLst>
          </a:prstGeom>
          <a:solidFill xmlns:a="http://schemas.openxmlformats.org/drawingml/2006/main">
            <a:srgbClr val="123957"/>
          </a:solidFill>
          <a:ln xmlns:a="http://schemas.openxmlformats.org/drawingml/2006/main" w="19050">
            <a:solidFill>
              <a:srgbClr val="24506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3816E6D-E370-4E44-99EB-B7240F83C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219325"/>
            <a:ext cx="2057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D7364F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D7364F"/>
                </a:solidFill>
                <a:latin typeface="Aptos Display"/>
                <a:ea typeface="Aptos Display"/>
                <a:cs typeface="Aptos Display"/>
              </a:rPr>
              <a:t>RANSOMWARE / DADOS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AE59386-DC29-491C-9D2F-5D29FA8BB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600325"/>
            <a:ext cx="20574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F4F7F8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F4F7F8"/>
                </a:solidFill>
                <a:latin typeface="Aptos"/>
                <a:ea typeface="Aptos"/>
                <a:cs typeface="Aptos"/>
              </a:rPr>
              <a:t>backup - dados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A790FC1-3591-45BE-93BA-459A5D43A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57625"/>
            <a:ext cx="3238500" cy="1381125"/>
          </a:xfrm>
          <a:prstGeom xmlns:a="http://schemas.openxmlformats.org/drawingml/2006/main" prst="roundRect">
            <a:avLst>
              <a:gd name="adj" fmla="val 11034"/>
            </a:avLst>
          </a:prstGeom>
          <a:solidFill xmlns:a="http://schemas.openxmlformats.org/drawingml/2006/main">
            <a:srgbClr val="123957"/>
          </a:solidFill>
          <a:ln xmlns:a="http://schemas.openxmlformats.org/drawingml/2006/main" w="19050">
            <a:solidFill>
              <a:srgbClr val="24506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231DA07-95A2-4195-A091-B46336666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29075"/>
            <a:ext cx="2819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AC32D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FAC32D"/>
                </a:solidFill>
                <a:latin typeface="Aptos Display"/>
                <a:ea typeface="Aptos Display"/>
                <a:cs typeface="Aptos Display"/>
              </a:rPr>
              <a:t>PAGAMENTO / LOJA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489F0DF-8249-4C5D-8671-F2539A3F6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410075"/>
            <a:ext cx="28194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F4F7F8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F4F7F8"/>
                </a:solidFill>
                <a:latin typeface="Aptos"/>
                <a:ea typeface="Aptos"/>
                <a:cs typeface="Aptos"/>
              </a:rPr>
              <a:t>destinatario - reputacao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997B46D-2CAB-4281-AB1D-324953210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857625"/>
            <a:ext cx="3238500" cy="1381125"/>
          </a:xfrm>
          <a:prstGeom xmlns:a="http://schemas.openxmlformats.org/drawingml/2006/main" prst="roundRect">
            <a:avLst>
              <a:gd name="adj" fmla="val 11034"/>
            </a:avLst>
          </a:prstGeom>
          <a:solidFill xmlns:a="http://schemas.openxmlformats.org/drawingml/2006/main">
            <a:srgbClr val="123957"/>
          </a:solidFill>
          <a:ln xmlns:a="http://schemas.openxmlformats.org/drawingml/2006/main" w="19050">
            <a:solidFill>
              <a:srgbClr val="24506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64A9BAE-6E52-4275-AF9B-51D89B987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4029075"/>
            <a:ext cx="2819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D7364F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D7364F"/>
                </a:solidFill>
                <a:latin typeface="Aptos Display"/>
                <a:ea typeface="Aptos Display"/>
                <a:cs typeface="Aptos Display"/>
              </a:rPr>
              <a:t>VIOLENCIA/DOXXING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9C28637-2D78-4163-9D17-A60B20A83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4410075"/>
            <a:ext cx="28194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F4F7F8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F4F7F8"/>
                </a:solidFill>
                <a:latin typeface="Aptos"/>
                <a:ea typeface="Aptos"/>
                <a:cs typeface="Aptos"/>
              </a:rPr>
              <a:t>bloquear - provas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D0EBC38-C55A-4A04-B32F-2CC127CCB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857625"/>
            <a:ext cx="3238500" cy="1381125"/>
          </a:xfrm>
          <a:prstGeom xmlns:a="http://schemas.openxmlformats.org/drawingml/2006/main" prst="roundRect">
            <a:avLst>
              <a:gd name="adj" fmla="val 11034"/>
            </a:avLst>
          </a:prstGeom>
          <a:solidFill xmlns:a="http://schemas.openxmlformats.org/drawingml/2006/main">
            <a:srgbClr val="123957"/>
          </a:solidFill>
          <a:ln xmlns:a="http://schemas.openxmlformats.org/drawingml/2006/main" w="19050">
            <a:solidFill>
              <a:srgbClr val="24506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23F6003-7ECB-4DE0-ACB1-F4F3832DE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029075"/>
            <a:ext cx="2819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37E5C1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37E5C1"/>
                </a:solidFill>
                <a:latin typeface="Aptos Display"/>
                <a:ea typeface="Aptos Display"/>
                <a:cs typeface="Aptos Display"/>
              </a:rPr>
              <a:t>CONTA / SUPORTE / IA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721DDED-1F7E-412C-B6C8-4072564F7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410075"/>
            <a:ext cx="28194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F4F7F8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F4F7F8"/>
                </a:solidFill>
                <a:latin typeface="Aptos"/>
                <a:ea typeface="Aptos"/>
                <a:cs typeface="Aptos"/>
              </a:rPr>
              <a:t>senha - confirmar origem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BFE2138-C6B5-4C74-BE57-80B385640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990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B9CEDA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B9CEDA"/>
                </a:solidFill>
                <a:latin typeface="Aptos"/>
                <a:ea typeface="Aptos"/>
                <a:cs typeface="Aptos"/>
              </a:rPr>
              <a:t>Artefatos do projeto - metas propostas, nao resultados medidos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0A18C2E-9B31-464B-B400-F50E99228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37E5C1"/>
                </a:solidFill>
                <a:latin typeface="Aptos Display"/>
                <a:ea typeface="Aptos Display"/>
                <a:cs typeface="Aptos Display"/>
              </a:defRPr>
            </a:pPr>
            <a:r>
              <a:rPr sz="900" b="1">
                <a:solidFill>
                  <a:srgbClr val="37E5C1"/>
                </a:solidFill>
                <a:latin typeface="Aptos Display"/>
                <a:ea typeface="Aptos Display"/>
                <a:cs typeface="Aptos Display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53941394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81F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ADF2F67-6FF7-4BE9-8FA8-1FF80F96E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37E5C1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37E5C1"/>
                </a:solidFill>
                <a:latin typeface="Aptos Display"/>
                <a:ea typeface="Aptos Display"/>
                <a:cs typeface="Aptos Display"/>
              </a:rPr>
              <a:t>GAMEPLAY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303C47-597A-4EBF-A765-2C2890A2E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6200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F4F7F8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4F7F8"/>
                </a:solidFill>
                <a:latin typeface="Aptos Display"/>
                <a:ea typeface="Aptos Display"/>
                <a:cs typeface="Aptos Display"/>
              </a:rPr>
              <a:t>O estado educativo esta visivel o tempo todo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F9E9E9-6CD1-485E-A744-C9463D270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33500"/>
            <a:ext cx="1066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B9CEDA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B9CEDA"/>
                </a:solidFill>
                <a:latin typeface="Aptos"/>
                <a:ea typeface="Aptos"/>
                <a:cs typeface="Aptos"/>
              </a:rPr>
              <a:t>Protecao, progresso e controles dividem o mesmo quadro da investigacao.</a:t>
            </a:r>
          </a:p>
        </p:txBody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bda39c0bc6e4294"/>
          <a:stretch xmlns:a="http://schemas.openxmlformats.org/drawingml/2006/main"/>
        </p:blipFill>
        <p:spPr>
          <a:xfrm xmlns:a="http://schemas.openxmlformats.org/drawingml/2006/main">
            <a:off x="686858" y="1952625"/>
            <a:ext cx="8094133" cy="45529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4A3DDC-74C0-4FE9-803A-71D151ADD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2047875"/>
            <a:ext cx="2409825" cy="1381125"/>
          </a:xfrm>
          <a:prstGeom xmlns:a="http://schemas.openxmlformats.org/drawingml/2006/main" prst="roundRect">
            <a:avLst>
              <a:gd name="adj" fmla="val 11034"/>
            </a:avLst>
          </a:prstGeom>
          <a:solidFill xmlns:a="http://schemas.openxmlformats.org/drawingml/2006/main">
            <a:srgbClr val="123957"/>
          </a:solidFill>
          <a:ln xmlns:a="http://schemas.openxmlformats.org/drawingml/2006/main" w="19050">
            <a:solidFill>
              <a:srgbClr val="24506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C6972AF-3250-48DA-A715-5D4BF3D01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5925" y="2219325"/>
            <a:ext cx="19907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37E5C1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37E5C1"/>
                </a:solidFill>
                <a:latin typeface="Aptos Display"/>
                <a:ea typeface="Aptos Display"/>
                <a:cs typeface="Aptos Display"/>
              </a:rPr>
              <a:t>HUD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80D5CB-46DC-4AAC-AB7E-C8B3743A3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5925" y="2600325"/>
            <a:ext cx="199072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F4F7F8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F4F7F8"/>
                </a:solidFill>
                <a:latin typeface="Aptos"/>
                <a:ea typeface="Aptos"/>
                <a:cs typeface="Aptos"/>
              </a:rPr>
              <a:t>Protecao 100%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F4F7F8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F4F7F8"/>
                </a:solidFill>
                <a:latin typeface="Aptos"/>
                <a:ea typeface="Aptos"/>
                <a:cs typeface="Aptos"/>
              </a:rPr>
              <a:t>Fase atual
Progresso 0/20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F4F7F8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F4F7F8"/>
                </a:solidFill>
                <a:latin typeface="Aptos"/>
                <a:ea typeface="Aptos"/>
                <a:cs typeface="Aptos"/>
              </a:rPr>
              <a:t/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94B3E0-8FA1-4B3B-9680-9FDAD66D2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3619500"/>
            <a:ext cx="2409825" cy="1381125"/>
          </a:xfrm>
          <a:prstGeom xmlns:a="http://schemas.openxmlformats.org/drawingml/2006/main" prst="roundRect">
            <a:avLst>
              <a:gd name="adj" fmla="val 11034"/>
            </a:avLst>
          </a:prstGeom>
          <a:solidFill xmlns:a="http://schemas.openxmlformats.org/drawingml/2006/main">
            <a:srgbClr val="123957"/>
          </a:solidFill>
          <a:ln xmlns:a="http://schemas.openxmlformats.org/drawingml/2006/main" w="19050">
            <a:solidFill>
              <a:srgbClr val="24506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E3BC58-F530-42B5-A157-F355AA00F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5925" y="3790950"/>
            <a:ext cx="19907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AC32D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FAC32D"/>
                </a:solidFill>
                <a:latin typeface="Aptos Display"/>
                <a:ea typeface="Aptos Display"/>
                <a:cs typeface="Aptos Display"/>
              </a:rPr>
              <a:t>MUNDO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AE78A80-4CB0-4F44-90E3-4131C47ED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5925" y="4171950"/>
            <a:ext cx="199072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F4F7F8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F4F7F8"/>
                </a:solidFill>
                <a:latin typeface="Aptos"/>
                <a:ea typeface="Aptos"/>
                <a:cs typeface="Aptos"/>
              </a:rPr>
              <a:t>Congresso e Lago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F4F7F8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F4F7F8"/>
                </a:solidFill>
                <a:latin typeface="Aptos"/>
                <a:ea typeface="Aptos"/>
                <a:cs typeface="Aptos"/>
              </a:rPr>
              <a:t>Ipes, nuvens e fases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F4F7F8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F4F7F8"/>
                </a:solidFill>
                <a:latin typeface="Aptos"/>
                <a:ea typeface="Aptos"/>
                <a:cs typeface="Aptos"/>
              </a:rPr>
              <a:t>Dados corrompidos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BF4BF21-BEE4-4ED8-B04A-2865841D7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5191125"/>
            <a:ext cx="2409825" cy="1190625"/>
          </a:xfrm>
          <a:prstGeom xmlns:a="http://schemas.openxmlformats.org/drawingml/2006/main" prst="roundRect">
            <a:avLst>
              <a:gd name="adj" fmla="val 12800"/>
            </a:avLst>
          </a:prstGeom>
          <a:solidFill xmlns:a="http://schemas.openxmlformats.org/drawingml/2006/main">
            <a:srgbClr val="123957"/>
          </a:solidFill>
          <a:ln xmlns:a="http://schemas.openxmlformats.org/drawingml/2006/main" w="19050">
            <a:solidFill>
              <a:srgbClr val="24506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A33475F-A869-4C1B-BA34-75F599B93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5925" y="5362575"/>
            <a:ext cx="19907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D7364F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D7364F"/>
                </a:solidFill>
                <a:latin typeface="Aptos Display"/>
                <a:ea typeface="Aptos Display"/>
                <a:cs typeface="Aptos Display"/>
              </a:rPr>
              <a:t>FEEDBACK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90C65CD-02C7-400D-93DC-4647DA2E4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5925" y="5743575"/>
            <a:ext cx="19907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F4F7F8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F4F7F8"/>
                </a:solidFill>
                <a:latin typeface="Aptos"/>
                <a:ea typeface="Aptos"/>
                <a:cs typeface="Aptos"/>
              </a:rPr>
              <a:t>Nome do risco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F4F7F8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F4F7F8"/>
                </a:solidFill>
                <a:latin typeface="Aptos"/>
                <a:ea typeface="Aptos"/>
                <a:cs typeface="Aptos"/>
              </a:rPr>
              <a:t>Forma + cor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F4F7F8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F4F7F8"/>
                </a:solidFill>
                <a:latin typeface="Aptos"/>
                <a:ea typeface="Aptos"/>
                <a:cs typeface="Aptos"/>
              </a:rPr>
              <a:t>Scanner nao violento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DD57DDD-FAAF-49E0-9071-320E85006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990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B9CEDA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B9CEDA"/>
                </a:solidFill>
                <a:latin typeface="Aptos"/>
                <a:ea typeface="Aptos"/>
                <a:cs typeface="Aptos"/>
              </a:rPr>
              <a:t>Captura real do prototipo - resolucao 1280x720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7F94DC5-F932-4599-8350-FF954D971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37E5C1"/>
                </a:solidFill>
                <a:latin typeface="Aptos Display"/>
                <a:ea typeface="Aptos Display"/>
                <a:cs typeface="Aptos Display"/>
              </a:defRPr>
            </a:pPr>
            <a:r>
              <a:rPr sz="900" b="1">
                <a:solidFill>
                  <a:srgbClr val="37E5C1"/>
                </a:solidFill>
                <a:latin typeface="Aptos Display"/>
                <a:ea typeface="Aptos Display"/>
                <a:cs typeface="Aptos Display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09047987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81F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EBE9BAC-8F01-4E16-A030-262A8587D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37E5C1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37E5C1"/>
                </a:solidFill>
                <a:latin typeface="Aptos Display"/>
                <a:ea typeface="Aptos Display"/>
                <a:cs typeface="Aptos Display"/>
              </a:rPr>
              <a:t>ARQUITETURA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3D1EB13-472D-4C5E-873C-45E9901A4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6200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F4F7F8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4F7F8"/>
                </a:solidFill>
                <a:latin typeface="Aptos Display"/>
                <a:ea typeface="Aptos Display"/>
                <a:cs typeface="Aptos Display"/>
              </a:rPr>
              <a:t>O main inicia; os modulos explicam o sistema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D49864-C6ED-4A6D-BD83-93B31B503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33500"/>
            <a:ext cx="1066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B9CEDA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B9CEDA"/>
                </a:solidFill>
                <a:latin typeface="Aptos"/>
                <a:ea typeface="Aptos"/>
                <a:cs typeface="Aptos"/>
              </a:rPr>
              <a:t>Responsabilidades pequenas reduzem acoplamento e tornam revisao possivel.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265E9D4-BA68-40C5-B86A-29342667F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33625"/>
            <a:ext cx="1905000" cy="857250"/>
          </a:xfrm>
          <a:prstGeom xmlns:a="http://schemas.openxmlformats.org/drawingml/2006/main" prst="roundRect">
            <a:avLst>
              <a:gd name="adj" fmla="val 17778"/>
            </a:avLst>
          </a:prstGeom>
          <a:solidFill xmlns:a="http://schemas.openxmlformats.org/drawingml/2006/main">
            <a:srgbClr val="123957"/>
          </a:solidFill>
          <a:ln xmlns:a="http://schemas.openxmlformats.org/drawingml/2006/main" w="19050">
            <a:solidFill>
              <a:srgbClr val="24506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AF57BA-12B4-406B-B4C1-AEC29B20B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505075"/>
            <a:ext cx="1485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37E5C1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37E5C1"/>
                </a:solidFill>
                <a:latin typeface="Aptos Display"/>
                <a:ea typeface="Aptos Display"/>
                <a:cs typeface="Aptos Display"/>
              </a:rPr>
              <a:t>MAIN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C0B6D6-4AD8-4029-B212-8517A489F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86075"/>
            <a:ext cx="1485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F4F7F8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F4F7F8"/>
                </a:solidFill>
                <a:latin typeface="Aptos"/>
                <a:ea typeface="Aptos"/>
                <a:cs typeface="Aptos"/>
              </a:rPr>
              <a:t>janela + ciclo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5DFE48-DE37-45CD-9229-F118C9FCB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333625"/>
            <a:ext cx="1905000" cy="857250"/>
          </a:xfrm>
          <a:prstGeom xmlns:a="http://schemas.openxmlformats.org/drawingml/2006/main" prst="roundRect">
            <a:avLst>
              <a:gd name="adj" fmla="val 17778"/>
            </a:avLst>
          </a:prstGeom>
          <a:solidFill xmlns:a="http://schemas.openxmlformats.org/drawingml/2006/main">
            <a:srgbClr val="123957"/>
          </a:solidFill>
          <a:ln xmlns:a="http://schemas.openxmlformats.org/drawingml/2006/main" w="19050">
            <a:solidFill>
              <a:srgbClr val="24506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F29CD6-FFE1-4203-BBBD-7865CB1B9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2505075"/>
            <a:ext cx="1485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AC32D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FAC32D"/>
                </a:solidFill>
                <a:latin typeface="Aptos Display"/>
                <a:ea typeface="Aptos Display"/>
                <a:cs typeface="Aptos Display"/>
              </a:rPr>
              <a:t>JOGO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02C9458-05B3-40EF-8621-1C7AAB762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2886075"/>
            <a:ext cx="1485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F4F7F8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F4F7F8"/>
                </a:solidFill>
                <a:latin typeface="Aptos"/>
                <a:ea typeface="Aptos"/>
                <a:cs typeface="Aptos"/>
              </a:rPr>
              <a:t>estado + regras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7374C61-B8BC-4EE1-8D6D-35FFA4B63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1952625"/>
            <a:ext cx="1905000" cy="857250"/>
          </a:xfrm>
          <a:prstGeom xmlns:a="http://schemas.openxmlformats.org/drawingml/2006/main" prst="roundRect">
            <a:avLst>
              <a:gd name="adj" fmla="val 17778"/>
            </a:avLst>
          </a:prstGeom>
          <a:solidFill xmlns:a="http://schemas.openxmlformats.org/drawingml/2006/main">
            <a:srgbClr val="123957"/>
          </a:solidFill>
          <a:ln xmlns:a="http://schemas.openxmlformats.org/drawingml/2006/main" w="19050">
            <a:solidFill>
              <a:srgbClr val="24506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32AB713-8084-4638-97A4-AA3EAA39D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2124075"/>
            <a:ext cx="1485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37E5C1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37E5C1"/>
                </a:solidFill>
                <a:latin typeface="Aptos Display"/>
                <a:ea typeface="Aptos Display"/>
                <a:cs typeface="Aptos Display"/>
              </a:rPr>
              <a:t>MAPA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365A330-5F4E-45A2-BE88-5FDF2B477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2505075"/>
            <a:ext cx="1485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F4F7F8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F4F7F8"/>
                </a:solidFill>
                <a:latin typeface="Aptos"/>
                <a:ea typeface="Aptos"/>
                <a:cs typeface="Aptos"/>
              </a:rPr>
              <a:t>tile + fisica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A59A940-D3AB-476F-96E1-C196BA7F2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000375"/>
            <a:ext cx="1905000" cy="857250"/>
          </a:xfrm>
          <a:prstGeom xmlns:a="http://schemas.openxmlformats.org/drawingml/2006/main" prst="roundRect">
            <a:avLst>
              <a:gd name="adj" fmla="val 17778"/>
            </a:avLst>
          </a:prstGeom>
          <a:solidFill xmlns:a="http://schemas.openxmlformats.org/drawingml/2006/main">
            <a:srgbClr val="123957"/>
          </a:solidFill>
          <a:ln xmlns:a="http://schemas.openxmlformats.org/drawingml/2006/main" w="19050">
            <a:solidFill>
              <a:srgbClr val="24506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8583C97-6F33-4CDB-9F41-DACFD2A0B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3171825"/>
            <a:ext cx="1485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37E5C1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37E5C1"/>
                </a:solidFill>
                <a:latin typeface="Aptos Display"/>
                <a:ea typeface="Aptos Display"/>
                <a:cs typeface="Aptos Display"/>
              </a:rPr>
              <a:t>AMEACAS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C862A99-D1DF-4B56-B6E7-98FB01FBF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3552825"/>
            <a:ext cx="1485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F4F7F8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F4F7F8"/>
                </a:solidFill>
                <a:latin typeface="Aptos"/>
                <a:ea typeface="Aptos"/>
                <a:cs typeface="Aptos"/>
              </a:rPr>
              <a:t>IA + desenho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2AAD776-BD08-4380-96D1-EEDA37642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952625"/>
            <a:ext cx="1905000" cy="857250"/>
          </a:xfrm>
          <a:prstGeom xmlns:a="http://schemas.openxmlformats.org/drawingml/2006/main" prst="roundRect">
            <a:avLst>
              <a:gd name="adj" fmla="val 17778"/>
            </a:avLst>
          </a:prstGeom>
          <a:solidFill xmlns:a="http://schemas.openxmlformats.org/drawingml/2006/main">
            <a:srgbClr val="123957"/>
          </a:solidFill>
          <a:ln xmlns:a="http://schemas.openxmlformats.org/drawingml/2006/main" w="19050">
            <a:solidFill>
              <a:srgbClr val="24506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915A875-EDA4-429C-B3A2-7D4E6CA8C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124075"/>
            <a:ext cx="1485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37E5C1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37E5C1"/>
                </a:solidFill>
                <a:latin typeface="Aptos Display"/>
                <a:ea typeface="Aptos Display"/>
                <a:cs typeface="Aptos Display"/>
              </a:rPr>
              <a:t>UI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540D060-BDBF-416E-833F-64480FCC4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505075"/>
            <a:ext cx="1485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F4F7F8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F4F7F8"/>
                </a:solidFill>
                <a:latin typeface="Aptos"/>
                <a:ea typeface="Aptos"/>
                <a:cs typeface="Aptos"/>
              </a:rPr>
              <a:t>telas + HUD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33EABFE-8717-4C0D-AF7B-C90A25566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000375"/>
            <a:ext cx="1905000" cy="857250"/>
          </a:xfrm>
          <a:prstGeom xmlns:a="http://schemas.openxmlformats.org/drawingml/2006/main" prst="roundRect">
            <a:avLst>
              <a:gd name="adj" fmla="val 17778"/>
            </a:avLst>
          </a:prstGeom>
          <a:solidFill xmlns:a="http://schemas.openxmlformats.org/drawingml/2006/main">
            <a:srgbClr val="123957"/>
          </a:solidFill>
          <a:ln xmlns:a="http://schemas.openxmlformats.org/drawingml/2006/main" w="19050">
            <a:solidFill>
              <a:srgbClr val="24506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61BC20F-F53C-41F9-8A62-D655E5D3A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171825"/>
            <a:ext cx="1485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37E5C1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37E5C1"/>
                </a:solidFill>
                <a:latin typeface="Aptos Display"/>
                <a:ea typeface="Aptos Display"/>
                <a:cs typeface="Aptos Display"/>
              </a:rPr>
              <a:t>SAVE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0473B2D-82B8-45CD-BD2A-BFA39E9A8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552825"/>
            <a:ext cx="1485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F4F7F8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F4F7F8"/>
                </a:solidFill>
                <a:latin typeface="Aptos"/>
                <a:ea typeface="Aptos"/>
                <a:cs typeface="Aptos"/>
              </a:rPr>
              <a:t>persistencia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672A76F-AF54-4E0F-9A9E-D4282853F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524125"/>
            <a:ext cx="3333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37E5C1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37E5C1"/>
                </a:solidFill>
                <a:latin typeface="Aptos Display"/>
                <a:ea typeface="Aptos Display"/>
                <a:cs typeface="Aptos Display"/>
              </a:rPr>
              <a:t>-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4AA8ABD-7D84-4444-B4D7-DEC4F30D6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524125"/>
            <a:ext cx="3333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37E5C1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37E5C1"/>
                </a:solidFill>
                <a:latin typeface="Aptos Display"/>
                <a:ea typeface="Aptos Display"/>
                <a:cs typeface="Aptos Display"/>
              </a:rPr>
              <a:t>-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F6E7381-5F11-4E84-8556-E174981A8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524125"/>
            <a:ext cx="3333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37E5C1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37E5C1"/>
                </a:solidFill>
                <a:latin typeface="Aptos Display"/>
                <a:ea typeface="Aptos Display"/>
                <a:cs typeface="Aptos Display"/>
              </a:rPr>
              <a:t>-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973BBAB-C255-4039-973F-9FA01A2F7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333875"/>
            <a:ext cx="7048500" cy="819150"/>
          </a:xfrm>
          <a:prstGeom xmlns:a="http://schemas.openxmlformats.org/drawingml/2006/main" prst="roundRect">
            <a:avLst>
              <a:gd name="adj" fmla="val 18605"/>
            </a:avLst>
          </a:prstGeom>
          <a:solidFill xmlns:a="http://schemas.openxmlformats.org/drawingml/2006/main">
            <a:srgbClr val="184877"/>
          </a:solidFill>
          <a:ln xmlns:a="http://schemas.openxmlformats.org/drawingml/2006/main" w="19050">
            <a:solidFill>
              <a:srgbClr val="2D638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DFFD4F2-8CFA-411D-9149-CA8843842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524375"/>
            <a:ext cx="6477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AC32D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FAC32D"/>
                </a:solidFill>
                <a:latin typeface="Aptos Display"/>
                <a:ea typeface="Aptos Display"/>
                <a:cs typeface="Aptos Display"/>
              </a:rPr>
              <a:t>include/config.h + tipos.h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AC06A61-7731-473C-8AFD-95A2173F8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857750"/>
            <a:ext cx="647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F4F7F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4F7F8"/>
                </a:solidFill>
                <a:latin typeface="Aptos"/>
                <a:ea typeface="Aptos"/>
                <a:cs typeface="Aptos"/>
              </a:rPr>
              <a:t>Contratos compartilhados - sem backend - sem IA em runtime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EE00424-5906-416A-A6A1-FBDC41D50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990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B9CEDA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B9CEDA"/>
                </a:solidFill>
                <a:latin typeface="Aptos"/>
                <a:ea typeface="Aptos"/>
                <a:cs typeface="Aptos"/>
              </a:rPr>
              <a:t>Artefatos do projeto - metas propostas, nao resultados medidos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5AADC7D-C9C6-4062-9462-98245670B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37E5C1"/>
                </a:solidFill>
                <a:latin typeface="Aptos Display"/>
                <a:ea typeface="Aptos Display"/>
                <a:cs typeface="Aptos Display"/>
              </a:defRPr>
            </a:pPr>
            <a:r>
              <a:rPr sz="900" b="1">
                <a:solidFill>
                  <a:srgbClr val="37E5C1"/>
                </a:solidFill>
                <a:latin typeface="Aptos Display"/>
                <a:ea typeface="Aptos Display"/>
                <a:cs typeface="Aptos Display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464965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81F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BF14F2E-25A6-42EC-9ED3-702A3BF63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37E5C1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37E5C1"/>
                </a:solidFill>
                <a:latin typeface="Aptos Display"/>
                <a:ea typeface="Aptos Display"/>
                <a:cs typeface="Aptos Display"/>
              </a:rPr>
              <a:t>UX/UI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ED74A60-FB51-4234-A1E5-84CC02332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6200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F4F7F8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4F7F8"/>
                </a:solidFill>
                <a:latin typeface="Aptos Display"/>
                <a:ea typeface="Aptos Display"/>
                <a:cs typeface="Aptos Display"/>
              </a:rPr>
              <a:t>Material Design adaptado ao jogo - sem perder a voz pixel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A27D60-8178-42F7-8447-C92E4367F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33500"/>
            <a:ext cx="1066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B9CEDA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B9CEDA"/>
                </a:solidFill>
                <a:latin typeface="Aptos"/>
                <a:ea typeface="Aptos"/>
                <a:cs typeface="Aptos"/>
              </a:rPr>
              <a:t>Hierarquia, feedback, consistencia e acessibilidade orientam o sistema.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09136F-0D52-4922-939C-A473AE6A0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914400" cy="914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81F3A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2CDA05-F7CD-44F1-AE57-83FEECFB7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914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F4F7F8"/>
                </a:solidFill>
                <a:latin typeface="Aptos Display"/>
                <a:ea typeface="Aptos Display"/>
                <a:cs typeface="Aptos Display"/>
              </a:defRPr>
            </a:pPr>
            <a:r>
              <a:rPr sz="900" b="1">
                <a:solidFill>
                  <a:srgbClr val="F4F7F8"/>
                </a:solidFill>
                <a:latin typeface="Aptos Display"/>
                <a:ea typeface="Aptos Display"/>
                <a:cs typeface="Aptos Display"/>
              </a:rPr>
              <a:t>NAVY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2489BF-D6D6-4E46-883B-84AC6B171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095500"/>
            <a:ext cx="914400" cy="914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84877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50A5ABA-6509-4450-9F26-B2151B870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3143250"/>
            <a:ext cx="914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F4F7F8"/>
                </a:solidFill>
                <a:latin typeface="Aptos Display"/>
                <a:ea typeface="Aptos Display"/>
                <a:cs typeface="Aptos Display"/>
              </a:defRPr>
            </a:pPr>
            <a:r>
              <a:rPr sz="900" b="1">
                <a:solidFill>
                  <a:srgbClr val="F4F7F8"/>
                </a:solidFill>
                <a:latin typeface="Aptos Display"/>
                <a:ea typeface="Aptos Display"/>
                <a:cs typeface="Aptos Display"/>
              </a:rPr>
              <a:t>BLUE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64C6BCE-A6B7-4F76-95A5-403700539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095500"/>
            <a:ext cx="914400" cy="914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37E5C1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E87D4C2-0578-4066-8E2F-9DB96E0B4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143250"/>
            <a:ext cx="914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F4F7F8"/>
                </a:solidFill>
                <a:latin typeface="Aptos Display"/>
                <a:ea typeface="Aptos Display"/>
                <a:cs typeface="Aptos Display"/>
              </a:defRPr>
            </a:pPr>
            <a:r>
              <a:rPr sz="900" b="1">
                <a:solidFill>
                  <a:srgbClr val="F4F7F8"/>
                </a:solidFill>
                <a:latin typeface="Aptos Display"/>
                <a:ea typeface="Aptos Display"/>
                <a:cs typeface="Aptos Display"/>
              </a:rPr>
              <a:t>CYAN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74C6B56-4825-4110-9561-DC5C655A5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2095500"/>
            <a:ext cx="914400" cy="914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AC32D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2E799E-2DBF-4665-8FE4-1A3B5166C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3143250"/>
            <a:ext cx="914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F4F7F8"/>
                </a:solidFill>
                <a:latin typeface="Aptos Display"/>
                <a:ea typeface="Aptos Display"/>
                <a:cs typeface="Aptos Display"/>
              </a:defRPr>
            </a:pPr>
            <a:r>
              <a:rPr sz="900" b="1">
                <a:solidFill>
                  <a:srgbClr val="F4F7F8"/>
                </a:solidFill>
                <a:latin typeface="Aptos Display"/>
                <a:ea typeface="Aptos Display"/>
                <a:cs typeface="Aptos Display"/>
              </a:rPr>
              <a:t>ALERTA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74B0109-50B8-4E98-A6F0-4D816E63D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2095500"/>
            <a:ext cx="914400" cy="914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D7364F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2292290-640B-4D4D-804E-B5B873790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143250"/>
            <a:ext cx="914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F4F7F8"/>
                </a:solidFill>
                <a:latin typeface="Aptos Display"/>
                <a:ea typeface="Aptos Display"/>
                <a:cs typeface="Aptos Display"/>
              </a:defRPr>
            </a:pPr>
            <a:r>
              <a:rPr sz="900" b="1">
                <a:solidFill>
                  <a:srgbClr val="F4F7F8"/>
                </a:solidFill>
                <a:latin typeface="Aptos Display"/>
                <a:ea typeface="Aptos Display"/>
                <a:cs typeface="Aptos Display"/>
              </a:rPr>
              <a:t>RISCO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B348994-0C7D-4B69-8349-EB9BDAB4F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095500"/>
            <a:ext cx="914400" cy="914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66BEE8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DEC2443-341E-457E-8DE0-753227C79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143250"/>
            <a:ext cx="914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F4F7F8"/>
                </a:solidFill>
                <a:latin typeface="Aptos Display"/>
                <a:ea typeface="Aptos Display"/>
                <a:cs typeface="Aptos Display"/>
              </a:defRPr>
            </a:pPr>
            <a:r>
              <a:rPr sz="900" b="1">
                <a:solidFill>
                  <a:srgbClr val="F4F7F8"/>
                </a:solidFill>
                <a:latin typeface="Aptos Display"/>
                <a:ea typeface="Aptos Display"/>
                <a:cs typeface="Aptos Display"/>
              </a:rPr>
              <a:t>CEU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81A842E-141D-4B36-9239-8722785C5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047875"/>
            <a:ext cx="3810000" cy="1809750"/>
          </a:xfrm>
          <a:prstGeom xmlns:a="http://schemas.openxmlformats.org/drawingml/2006/main" prst="roundRect">
            <a:avLst>
              <a:gd name="adj" fmla="val 8421"/>
            </a:avLst>
          </a:prstGeom>
          <a:solidFill xmlns:a="http://schemas.openxmlformats.org/drawingml/2006/main">
            <a:srgbClr val="123957"/>
          </a:solidFill>
          <a:ln xmlns:a="http://schemas.openxmlformats.org/drawingml/2006/main" w="19050">
            <a:solidFill>
              <a:srgbClr val="24506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1206C60-CB78-470B-9F97-1D6C09E47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219325"/>
            <a:ext cx="3390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37E5C1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37E5C1"/>
                </a:solidFill>
                <a:latin typeface="Aptos Display"/>
                <a:ea typeface="Aptos Display"/>
                <a:cs typeface="Aptos Display"/>
              </a:rPr>
              <a:t>ACESSIBILIDADE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CFF952F-C372-4D43-9BD5-F0D815804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600325"/>
            <a:ext cx="33909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F4F7F8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F4F7F8"/>
                </a:solidFill>
                <a:latin typeface="Aptos"/>
                <a:ea typeface="Aptos"/>
                <a:cs typeface="Aptos"/>
              </a:rPr>
              <a:t>Teclado completo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F4F7F8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F4F7F8"/>
                </a:solidFill>
                <a:latin typeface="Aptos"/>
                <a:ea typeface="Aptos"/>
                <a:cs typeface="Aptos"/>
              </a:rPr>
              <a:t>Cor + forma + texto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F4F7F8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F4F7F8"/>
                </a:solidFill>
                <a:latin typeface="Aptos"/>
                <a:ea typeface="Aptos"/>
                <a:cs typeface="Aptos"/>
              </a:rPr>
              <a:t>Leitura sem cronometro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F4F7F8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F4F7F8"/>
                </a:solidFill>
                <a:latin typeface="Aptos"/>
                <a:ea typeface="Aptos"/>
                <a:cs typeface="Aptos"/>
              </a:rPr>
              <a:t>WCAG 2.2 AA na web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D1B98E4-F662-41F9-ADF3-E6D8C5B7D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33875"/>
            <a:ext cx="3333750" cy="1000125"/>
          </a:xfrm>
          <a:prstGeom xmlns:a="http://schemas.openxmlformats.org/drawingml/2006/main" prst="roundRect">
            <a:avLst>
              <a:gd name="adj" fmla="val 15238"/>
            </a:avLst>
          </a:prstGeom>
          <a:solidFill xmlns:a="http://schemas.openxmlformats.org/drawingml/2006/main">
            <a:srgbClr val="123957"/>
          </a:solidFill>
          <a:ln xmlns:a="http://schemas.openxmlformats.org/drawingml/2006/main" w="19050">
            <a:solidFill>
              <a:srgbClr val="24506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38FD021-AF39-4253-B29C-C148A0D36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05325"/>
            <a:ext cx="2914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AC32D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FAC32D"/>
                </a:solidFill>
                <a:latin typeface="Aptos Display"/>
                <a:ea typeface="Aptos Display"/>
                <a:cs typeface="Aptos Display"/>
              </a:rPr>
              <a:t>TOM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9093E8C-4EA0-4B6F-AC7F-21294E4C0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886325"/>
            <a:ext cx="29146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F4F7F8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F4F7F8"/>
                </a:solidFill>
                <a:latin typeface="Aptos"/>
                <a:ea typeface="Aptos"/>
                <a:cs typeface="Aptos"/>
              </a:rPr>
              <a:t>Claro - nao culpabilizante - acionavel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C294C6C-D59C-4CB7-B7B1-284F37D55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4333875"/>
            <a:ext cx="3333750" cy="1000125"/>
          </a:xfrm>
          <a:prstGeom xmlns:a="http://schemas.openxmlformats.org/drawingml/2006/main" prst="roundRect">
            <a:avLst>
              <a:gd name="adj" fmla="val 15238"/>
            </a:avLst>
          </a:prstGeom>
          <a:solidFill xmlns:a="http://schemas.openxmlformats.org/drawingml/2006/main">
            <a:srgbClr val="123957"/>
          </a:solidFill>
          <a:ln xmlns:a="http://schemas.openxmlformats.org/drawingml/2006/main" w="19050">
            <a:solidFill>
              <a:srgbClr val="24506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0614368-2C1E-4889-A1FE-9C7567039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4505325"/>
            <a:ext cx="2914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37E5C1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37E5C1"/>
                </a:solidFill>
                <a:latin typeface="Aptos Display"/>
                <a:ea typeface="Aptos Display"/>
                <a:cs typeface="Aptos Display"/>
              </a:rPr>
              <a:t>P1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F2344A9-D8D0-45B2-BF0D-6EBE0C589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4886325"/>
            <a:ext cx="29146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F4F7F8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F4F7F8"/>
                </a:solidFill>
                <a:latin typeface="Aptos"/>
                <a:ea typeface="Aptos"/>
                <a:cs typeface="Aptos"/>
              </a:rPr>
              <a:t>Remapeamento - alto contraste - menos movimento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9B11290-89BA-4B11-B32C-9E5A44666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333875"/>
            <a:ext cx="3333750" cy="1000125"/>
          </a:xfrm>
          <a:prstGeom xmlns:a="http://schemas.openxmlformats.org/drawingml/2006/main" prst="roundRect">
            <a:avLst>
              <a:gd name="adj" fmla="val 15238"/>
            </a:avLst>
          </a:prstGeom>
          <a:solidFill xmlns:a="http://schemas.openxmlformats.org/drawingml/2006/main">
            <a:srgbClr val="123957"/>
          </a:solidFill>
          <a:ln xmlns:a="http://schemas.openxmlformats.org/drawingml/2006/main" w="19050">
            <a:solidFill>
              <a:srgbClr val="24506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FAF6B86-99E3-4906-ADF8-D256537B8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505325"/>
            <a:ext cx="2914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D7364F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D7364F"/>
                </a:solidFill>
                <a:latin typeface="Aptos Display"/>
                <a:ea typeface="Aptos Display"/>
                <a:cs typeface="Aptos Display"/>
              </a:rPr>
              <a:t>PESQUISA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34B3870-681C-4BEC-A841-9258DD50B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886325"/>
            <a:ext cx="29146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F4F7F8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F4F7F8"/>
                </a:solidFill>
                <a:latin typeface="Aptos"/>
                <a:ea typeface="Aptos"/>
                <a:cs typeface="Aptos"/>
              </a:rPr>
              <a:t>5-8 testes moderados + SUS + compreensao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5F9BECE-2054-4F23-B1D4-D6BA565D7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990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B9CEDA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B9CEDA"/>
                </a:solidFill>
                <a:latin typeface="Aptos"/>
                <a:ea typeface="Aptos"/>
                <a:cs typeface="Aptos"/>
              </a:rPr>
              <a:t>Artefatos do projeto - metas propostas, nao resultados medidos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A02FE14-E3FD-48A4-82CC-5FF7ED27D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37E5C1"/>
                </a:solidFill>
                <a:latin typeface="Aptos Display"/>
                <a:ea typeface="Aptos Display"/>
                <a:cs typeface="Aptos Display"/>
              </a:defRPr>
            </a:pPr>
            <a:r>
              <a:rPr sz="900" b="1">
                <a:solidFill>
                  <a:srgbClr val="37E5C1"/>
                </a:solidFill>
                <a:latin typeface="Aptos Display"/>
                <a:ea typeface="Aptos Display"/>
                <a:cs typeface="Aptos Display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95071384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81F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3479C85-84EA-40D9-89B9-08BDCAC35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37E5C1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37E5C1"/>
                </a:solidFill>
                <a:latin typeface="Aptos Display"/>
                <a:ea typeface="Aptos Display"/>
                <a:cs typeface="Aptos Display"/>
              </a:rPr>
              <a:t>SEGURANCA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471BCE-C61F-43FF-9759-6D5DC5EEE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6200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F4F7F8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4F7F8"/>
                </a:solidFill>
                <a:latin typeface="Aptos Display"/>
                <a:ea typeface="Aptos Display"/>
                <a:cs typeface="Aptos Display"/>
              </a:rPr>
              <a:t>A melhor coleta de dados do MVP - nenhuma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82F5FA-2B52-4603-AEE4-7C38071C5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33500"/>
            <a:ext cx="1066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B9CEDA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B9CEDA"/>
                </a:solidFill>
                <a:latin typeface="Aptos"/>
                <a:ea typeface="Aptos"/>
                <a:cs typeface="Aptos"/>
              </a:rPr>
              <a:t>Sem login, backend ou telemetria: menos custo, risco e obrigacao operacional.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6E0ED3-C17A-4BCA-B443-5508C473E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33625"/>
            <a:ext cx="1809750" cy="1000125"/>
          </a:xfrm>
          <a:prstGeom xmlns:a="http://schemas.openxmlformats.org/drawingml/2006/main" prst="roundRect">
            <a:avLst>
              <a:gd name="adj" fmla="val 15238"/>
            </a:avLst>
          </a:prstGeom>
          <a:solidFill xmlns:a="http://schemas.openxmlformats.org/drawingml/2006/main">
            <a:srgbClr val="123957"/>
          </a:solidFill>
          <a:ln xmlns:a="http://schemas.openxmlformats.org/drawingml/2006/main" w="19050">
            <a:solidFill>
              <a:srgbClr val="2D638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18D248-D856-4757-AF3A-982265585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2524125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37E5C1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37E5C1"/>
                </a:solidFill>
                <a:latin typeface="Aptos Display"/>
                <a:ea typeface="Aptos Display"/>
                <a:cs typeface="Aptos Display"/>
              </a:rPr>
              <a:t>GITHUB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E0EB5A-5068-4B8B-B023-ED9E315FC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2924175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F4F7F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F4F7F8"/>
                </a:solidFill>
                <a:latin typeface="Aptos"/>
                <a:ea typeface="Aptos"/>
                <a:cs typeface="Aptos"/>
              </a:rPr>
              <a:t>MFA + PR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029432-6917-4E2B-AE51-660E8E9D1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2638425"/>
            <a:ext cx="28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37E5C1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37E5C1"/>
                </a:solidFill>
                <a:latin typeface="Aptos Display"/>
                <a:ea typeface="Aptos Display"/>
                <a:cs typeface="Aptos Display"/>
              </a:rPr>
              <a:t>-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2B86BEF-674E-46C1-BA9A-BA10255AF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333625"/>
            <a:ext cx="1809750" cy="1000125"/>
          </a:xfrm>
          <a:prstGeom xmlns:a="http://schemas.openxmlformats.org/drawingml/2006/main" prst="roundRect">
            <a:avLst>
              <a:gd name="adj" fmla="val 15238"/>
            </a:avLst>
          </a:prstGeom>
          <a:solidFill xmlns:a="http://schemas.openxmlformats.org/drawingml/2006/main">
            <a:srgbClr val="123957"/>
          </a:solidFill>
          <a:ln xmlns:a="http://schemas.openxmlformats.org/drawingml/2006/main" w="19050">
            <a:solidFill>
              <a:srgbClr val="2D638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2B47E19-CFBC-480D-8C0F-C2F9E36C0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2524125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37E5C1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37E5C1"/>
                </a:solidFill>
                <a:latin typeface="Aptos Display"/>
                <a:ea typeface="Aptos Display"/>
                <a:cs typeface="Aptos Display"/>
              </a:rPr>
              <a:t>CI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5789BC6-ABF9-4376-8FD0-88A8EAB26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2924175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F4F7F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F4F7F8"/>
                </a:solidFill>
                <a:latin typeface="Aptos"/>
                <a:ea typeface="Aptos"/>
                <a:cs typeface="Aptos"/>
              </a:rPr>
              <a:t>build + analise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C7DB5E9-63DE-4FDF-A56D-89302BA0B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638425"/>
            <a:ext cx="28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37E5C1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37E5C1"/>
                </a:solidFill>
                <a:latin typeface="Aptos Display"/>
                <a:ea typeface="Aptos Display"/>
                <a:cs typeface="Aptos Display"/>
              </a:rPr>
              <a:t>-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3240B15-DD08-4EBA-A612-21FED7720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333625"/>
            <a:ext cx="1809750" cy="1000125"/>
          </a:xfrm>
          <a:prstGeom xmlns:a="http://schemas.openxmlformats.org/drawingml/2006/main" prst="roundRect">
            <a:avLst>
              <a:gd name="adj" fmla="val 15238"/>
            </a:avLst>
          </a:prstGeom>
          <a:solidFill xmlns:a="http://schemas.openxmlformats.org/drawingml/2006/main">
            <a:srgbClr val="123957"/>
          </a:solidFill>
          <a:ln xmlns:a="http://schemas.openxmlformats.org/drawingml/2006/main" w="19050">
            <a:solidFill>
              <a:srgbClr val="2D638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73F5737-8213-493A-8F9E-25EAAF3B1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3975" y="2524125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AC32D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AC32D"/>
                </a:solidFill>
                <a:latin typeface="Aptos Display"/>
                <a:ea typeface="Aptos Display"/>
                <a:cs typeface="Aptos Display"/>
              </a:rPr>
              <a:t>ARTEFATO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F930929-5772-4B9D-AB0E-5BA71431C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3975" y="2924175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F4F7F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F4F7F8"/>
                </a:solidFill>
                <a:latin typeface="Aptos"/>
                <a:ea typeface="Aptos"/>
                <a:cs typeface="Aptos"/>
              </a:rPr>
              <a:t>hash + SBOM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493ACC2-9E84-4CE5-8050-919C9B932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638425"/>
            <a:ext cx="28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37E5C1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37E5C1"/>
                </a:solidFill>
                <a:latin typeface="Aptos Display"/>
                <a:ea typeface="Aptos Display"/>
                <a:cs typeface="Aptos Display"/>
              </a:rPr>
              <a:t>-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0CF1394-362F-4A30-BA9B-136E63E74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333625"/>
            <a:ext cx="1809750" cy="1000125"/>
          </a:xfrm>
          <a:prstGeom xmlns:a="http://schemas.openxmlformats.org/drawingml/2006/main" prst="roundRect">
            <a:avLst>
              <a:gd name="adj" fmla="val 15238"/>
            </a:avLst>
          </a:prstGeom>
          <a:solidFill xmlns:a="http://schemas.openxmlformats.org/drawingml/2006/main">
            <a:srgbClr val="123957"/>
          </a:solidFill>
          <a:ln xmlns:a="http://schemas.openxmlformats.org/drawingml/2006/main" w="19050">
            <a:solidFill>
              <a:srgbClr val="2D638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5886A86-EEC3-49F1-831E-32EE3EEC9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2524125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37E5C1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37E5C1"/>
                </a:solidFill>
                <a:latin typeface="Aptos Display"/>
                <a:ea typeface="Aptos Display"/>
                <a:cs typeface="Aptos Display"/>
              </a:rPr>
              <a:t>CDN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F5743D2-754C-40D3-8E9F-8CBC3065E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2924175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F4F7F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F4F7F8"/>
                </a:solidFill>
                <a:latin typeface="Aptos"/>
                <a:ea typeface="Aptos"/>
                <a:cs typeface="Aptos"/>
              </a:rPr>
              <a:t>TLS + CSP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AD0AF00-9862-410C-8E8E-AF3A7E3AE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638425"/>
            <a:ext cx="28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37E5C1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37E5C1"/>
                </a:solidFill>
                <a:latin typeface="Aptos Display"/>
                <a:ea typeface="Aptos Display"/>
                <a:cs typeface="Aptos Display"/>
              </a:rPr>
              <a:t>-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5A7041A-3B4A-4A63-B589-04647AD11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333625"/>
            <a:ext cx="1809750" cy="1000125"/>
          </a:xfrm>
          <a:prstGeom xmlns:a="http://schemas.openxmlformats.org/drawingml/2006/main" prst="roundRect">
            <a:avLst>
              <a:gd name="adj" fmla="val 15238"/>
            </a:avLst>
          </a:prstGeom>
          <a:solidFill xmlns:a="http://schemas.openxmlformats.org/drawingml/2006/main">
            <a:srgbClr val="184877"/>
          </a:solidFill>
          <a:ln xmlns:a="http://schemas.openxmlformats.org/drawingml/2006/main" w="19050">
            <a:solidFill>
              <a:srgbClr val="2D638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302780D-47A4-4F91-BF91-8B3F73E9D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39275" y="2524125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37E5C1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37E5C1"/>
                </a:solidFill>
                <a:latin typeface="Aptos Display"/>
                <a:ea typeface="Aptos Display"/>
                <a:cs typeface="Aptos Display"/>
              </a:rPr>
              <a:t>NAVEGADOR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9727281-319F-4F7D-8E0C-418955743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39275" y="2924175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F4F7F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F4F7F8"/>
                </a:solidFill>
                <a:latin typeface="Aptos"/>
                <a:ea typeface="Aptos"/>
                <a:cs typeface="Aptos"/>
              </a:rPr>
              <a:t>save local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7B30241-7ED7-4AFE-9C6F-D101C32ED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05250"/>
            <a:ext cx="5191125" cy="1381125"/>
          </a:xfrm>
          <a:prstGeom xmlns:a="http://schemas.openxmlformats.org/drawingml/2006/main" prst="roundRect">
            <a:avLst>
              <a:gd name="adj" fmla="val 11034"/>
            </a:avLst>
          </a:prstGeom>
          <a:solidFill xmlns:a="http://schemas.openxmlformats.org/drawingml/2006/main">
            <a:srgbClr val="123957"/>
          </a:solidFill>
          <a:ln xmlns:a="http://schemas.openxmlformats.org/drawingml/2006/main" w="19050">
            <a:solidFill>
              <a:srgbClr val="24506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5442881-D29D-4DBC-9D04-081CA1616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76700"/>
            <a:ext cx="47720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AC32D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FAC32D"/>
                </a:solidFill>
                <a:latin typeface="Aptos Display"/>
                <a:ea typeface="Aptos Display"/>
                <a:cs typeface="Aptos Display"/>
              </a:rPr>
              <a:t>GATES DE GO-LIVE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5698B61-3CB7-434B-9AFC-633073F8F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457700"/>
            <a:ext cx="477202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F4F7F8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F4F7F8"/>
                </a:solidFill>
                <a:latin typeface="Aptos"/>
                <a:ea typeface="Aptos"/>
                <a:cs typeface="Aptos"/>
              </a:rPr>
              <a:t>Conteudo revisado - zero critico/alto - rollback testado - privacidade aprovada antes de pesquisa.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AD1CFB0-1FCE-4306-83B6-226B1BAD6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3905250"/>
            <a:ext cx="5191125" cy="1381125"/>
          </a:xfrm>
          <a:prstGeom xmlns:a="http://schemas.openxmlformats.org/drawingml/2006/main" prst="roundRect">
            <a:avLst>
              <a:gd name="adj" fmla="val 11034"/>
            </a:avLst>
          </a:prstGeom>
          <a:solidFill xmlns:a="http://schemas.openxmlformats.org/drawingml/2006/main">
            <a:srgbClr val="123957"/>
          </a:solidFill>
          <a:ln xmlns:a="http://schemas.openxmlformats.org/drawingml/2006/main" w="19050">
            <a:solidFill>
              <a:srgbClr val="24506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329C24C-12DA-4286-B883-687FBAF44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076700"/>
            <a:ext cx="47720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D7364F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D7364F"/>
                </a:solidFill>
                <a:latin typeface="Aptos Display"/>
                <a:ea typeface="Aptos Display"/>
                <a:cs typeface="Aptos Display"/>
              </a:rPr>
              <a:t>MENORES DE IDADE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9BEDD75-5129-46ED-BE61-C741B2B9A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457700"/>
            <a:ext cx="477202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F4F7F8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F4F7F8"/>
                </a:solidFill>
                <a:latin typeface="Aptos"/>
                <a:ea typeface="Aptos"/>
                <a:cs typeface="Aptos"/>
              </a:rPr>
              <a:t>Sem relatos reais no jogo. Consentimento, assentimento e RIPD sao gates de um piloto com dados.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24DA738-1B62-4697-B91C-335F600CA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990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B9CEDA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B9CEDA"/>
                </a:solidFill>
                <a:latin typeface="Aptos"/>
                <a:ea typeface="Aptos"/>
                <a:cs typeface="Aptos"/>
              </a:rPr>
              <a:t>Artefatos do projeto - metas propostas, nao resultados medidos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8AFE740-041B-48B7-98EF-C86F02D68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37E5C1"/>
                </a:solidFill>
                <a:latin typeface="Aptos Display"/>
                <a:ea typeface="Aptos Display"/>
                <a:cs typeface="Aptos Display"/>
              </a:defRPr>
            </a:pPr>
            <a:r>
              <a:rPr sz="900" b="1">
                <a:solidFill>
                  <a:srgbClr val="37E5C1"/>
                </a:solidFill>
                <a:latin typeface="Aptos Display"/>
                <a:ea typeface="Aptos Display"/>
                <a:cs typeface="Aptos Display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97456230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81F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15BF347-ACC4-4EB1-91FC-569B0DD61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37E5C1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37E5C1"/>
                </a:solidFill>
                <a:latin typeface="Aptos Display"/>
                <a:ea typeface="Aptos Display"/>
                <a:cs typeface="Aptos Display"/>
              </a:rPr>
              <a:t>REQUISITOS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B8D3F6-B716-41C9-9BBE-CCEDC2E66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6200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F4F7F8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4F7F8"/>
                </a:solidFill>
                <a:latin typeface="Aptos Display"/>
                <a:ea typeface="Aptos Display"/>
                <a:cs typeface="Aptos Display"/>
              </a:rPr>
              <a:t>Aceite verificavel conecta objetivo, codigo e evidencia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503539-E313-43CB-86E6-1F24F01C3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33500"/>
            <a:ext cx="1066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B9CEDA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B9CEDA"/>
                </a:solidFill>
                <a:latin typeface="Aptos"/>
                <a:ea typeface="Aptos"/>
                <a:cs typeface="Aptos"/>
              </a:rPr>
              <a:t>5W2H, stakeholders, RF/RNF e custos deixam as suposicoes explicitas.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F1F454-8745-4819-AC9F-F8DAC6301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2476500" cy="142875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123957"/>
          </a:solidFill>
          <a:ln xmlns:a="http://schemas.openxmlformats.org/drawingml/2006/main" w="19050">
            <a:solidFill>
              <a:srgbClr val="2D638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EF9E46-B64E-4B88-AB7B-9AFD786B1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86000"/>
            <a:ext cx="2095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3750" b="1">
                <a:solidFill>
                  <a:srgbClr val="37E5C1"/>
                </a:solidFill>
                <a:latin typeface="Aptos Display"/>
                <a:ea typeface="Aptos Display"/>
                <a:cs typeface="Aptos Display"/>
              </a:defRPr>
            </a:pPr>
            <a:r>
              <a:rPr sz="3750" b="1">
                <a:solidFill>
                  <a:srgbClr val="37E5C1"/>
                </a:solidFill>
                <a:latin typeface="Aptos Display"/>
                <a:ea typeface="Aptos Display"/>
                <a:cs typeface="Aptos Display"/>
              </a:rPr>
              <a:t>20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AB7C64-80D2-40B2-ABFC-B9D99B093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00375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4F7F8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F4F7F8"/>
                </a:solidFill>
                <a:latin typeface="Aptos Display"/>
                <a:ea typeface="Aptos Display"/>
                <a:cs typeface="Aptos Display"/>
              </a:rPr>
              <a:t>ocorrencias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2A43D5E-9877-4ADA-A2AD-767509398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095500"/>
            <a:ext cx="2476500" cy="142875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123957"/>
          </a:solidFill>
          <a:ln xmlns:a="http://schemas.openxmlformats.org/drawingml/2006/main" w="19050">
            <a:solidFill>
              <a:srgbClr val="2D638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65E43A0-6D74-4370-876D-0626C3975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286000"/>
            <a:ext cx="2095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3750" b="1">
                <a:solidFill>
                  <a:srgbClr val="37E5C1"/>
                </a:solidFill>
                <a:latin typeface="Aptos Display"/>
                <a:ea typeface="Aptos Display"/>
                <a:cs typeface="Aptos Display"/>
              </a:defRPr>
            </a:pPr>
            <a:r>
              <a:rPr sz="3750" b="1">
                <a:solidFill>
                  <a:srgbClr val="37E5C1"/>
                </a:solidFill>
                <a:latin typeface="Aptos Display"/>
                <a:ea typeface="Aptos Display"/>
                <a:cs typeface="Aptos Display"/>
              </a:rPr>
              <a:t>15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9D2274-E6E7-41FC-A936-CDE6E70C8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3000375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4F7F8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F4F7F8"/>
                </a:solidFill>
                <a:latin typeface="Aptos Display"/>
                <a:ea typeface="Aptos Display"/>
                <a:cs typeface="Aptos Display"/>
              </a:rPr>
              <a:t>categorias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2710B5E-01A3-4ED3-B64A-2FE97BBE4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095500"/>
            <a:ext cx="2476500" cy="142875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123957"/>
          </a:solidFill>
          <a:ln xmlns:a="http://schemas.openxmlformats.org/drawingml/2006/main" w="19050">
            <a:solidFill>
              <a:srgbClr val="2D638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63197E8-E879-4CF7-B509-A9F785D60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286000"/>
            <a:ext cx="2095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3750" b="1">
                <a:solidFill>
                  <a:srgbClr val="37E5C1"/>
                </a:solidFill>
                <a:latin typeface="Aptos Display"/>
                <a:ea typeface="Aptos Display"/>
                <a:cs typeface="Aptos Display"/>
              </a:defRPr>
            </a:pPr>
            <a:r>
              <a:rPr sz="3750" b="1">
                <a:solidFill>
                  <a:srgbClr val="37E5C1"/>
                </a:solidFill>
                <a:latin typeface="Aptos Display"/>
                <a:ea typeface="Aptos Display"/>
                <a:cs typeface="Aptos Display"/>
              </a:rPr>
              <a:t>60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D83BB75-B387-4FF6-8A97-7A93F041D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000375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4F7F8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F4F7F8"/>
                </a:solidFill>
                <a:latin typeface="Aptos Display"/>
                <a:ea typeface="Aptos Display"/>
                <a:cs typeface="Aptos Display"/>
              </a:rPr>
              <a:t>FPS alvo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80B47C8-EA44-4C7D-9167-B4442DE54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095500"/>
            <a:ext cx="2476500" cy="142875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184877"/>
          </a:solidFill>
          <a:ln xmlns:a="http://schemas.openxmlformats.org/drawingml/2006/main" w="19050">
            <a:solidFill>
              <a:srgbClr val="2D638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077199A-706A-4953-B517-745A7E41C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286000"/>
            <a:ext cx="2095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3750" b="1">
                <a:solidFill>
                  <a:srgbClr val="FAC32D"/>
                </a:solidFill>
                <a:latin typeface="Aptos Display"/>
                <a:ea typeface="Aptos Display"/>
                <a:cs typeface="Aptos Display"/>
              </a:defRPr>
            </a:pPr>
            <a:r>
              <a:rPr sz="3750" b="1">
                <a:solidFill>
                  <a:srgbClr val="FAC32D"/>
                </a:solidFill>
                <a:latin typeface="Aptos Display"/>
                <a:ea typeface="Aptos Display"/>
                <a:cs typeface="Aptos Display"/>
              </a:rPr>
              <a:t>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BBB020C-DEA6-4293-BF68-CA58E39B0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000375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4F7F8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F4F7F8"/>
                </a:solidFill>
                <a:latin typeface="Aptos Display"/>
                <a:ea typeface="Aptos Display"/>
                <a:cs typeface="Aptos Display"/>
              </a:rPr>
              <a:t>dados pessoais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5E5D708-EBE7-4C14-946F-D5D13460A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48125"/>
            <a:ext cx="10820400" cy="1333500"/>
          </a:xfrm>
          <a:prstGeom xmlns:a="http://schemas.openxmlformats.org/drawingml/2006/main" prst="roundRect">
            <a:avLst>
              <a:gd name="adj" fmla="val 12857"/>
            </a:avLst>
          </a:prstGeom>
          <a:solidFill xmlns:a="http://schemas.openxmlformats.org/drawingml/2006/main">
            <a:srgbClr val="123957"/>
          </a:solidFill>
          <a:ln xmlns:a="http://schemas.openxmlformats.org/drawingml/2006/main" w="19050">
            <a:solidFill>
              <a:srgbClr val="2D638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D1EB7D8-8A14-4D85-A9C7-626E9439C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276725"/>
            <a:ext cx="285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FAC32D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AC32D"/>
                </a:solidFill>
                <a:latin typeface="Aptos Display"/>
                <a:ea typeface="Aptos Display"/>
                <a:cs typeface="Aptos Display"/>
              </a:rPr>
              <a:t>CUSTO COMPUTACIONAL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8585CCB-EE10-4F3B-866D-9C24AA51E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66725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F4F7F8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F4F7F8"/>
                </a:solidFill>
                <a:latin typeface="Aptos Display"/>
                <a:ea typeface="Aptos Display"/>
                <a:cs typeface="Aptos Display"/>
              </a:rPr>
              <a:t>Tilemap 210x22 - ate 20 ameacas - primitivas 2D - save &lt; 20 KB - rede zero no desktop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9EF44F4-9CBB-4329-97A5-E919A0472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04825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B9CED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B9CEDA"/>
                </a:solidFill>
                <a:latin typeface="Aptos"/>
                <a:ea typeface="Aptos"/>
                <a:cs typeface="Aptos"/>
              </a:rPr>
              <a:t>Maior investimento: revisao de conteudo, pesquisa, acessibilidade e seguranca.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0E11CA8-5EF4-4EA7-B2EB-589AC5DC9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990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B9CEDA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B9CEDA"/>
                </a:solidFill>
                <a:latin typeface="Aptos"/>
                <a:ea typeface="Aptos"/>
                <a:cs typeface="Aptos"/>
              </a:rPr>
              <a:t>Artefatos do projeto - metas propostas, nao resultados medidos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E6C6524-9912-43B7-9499-ED98A282E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37E5C1"/>
                </a:solidFill>
                <a:latin typeface="Aptos Display"/>
                <a:ea typeface="Aptos Display"/>
                <a:cs typeface="Aptos Display"/>
              </a:defRPr>
            </a:pPr>
            <a:r>
              <a:rPr sz="900" b="1">
                <a:solidFill>
                  <a:srgbClr val="37E5C1"/>
                </a:solidFill>
                <a:latin typeface="Aptos Display"/>
                <a:ea typeface="Aptos Display"/>
                <a:cs typeface="Aptos Display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70552635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81F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BFC471F-4EA4-4210-86EB-6BB99E889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37E5C1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37E5C1"/>
                </a:solidFill>
                <a:latin typeface="Aptos Display"/>
                <a:ea typeface="Aptos Display"/>
                <a:cs typeface="Aptos Display"/>
              </a:rPr>
              <a:t>CLOUD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0C2E3CE-EB68-4BD5-A101-BAE045D35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6200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F4F7F8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4F7F8"/>
                </a:solidFill>
                <a:latin typeface="Aptos Display"/>
                <a:ea typeface="Aptos Display"/>
                <a:cs typeface="Aptos Display"/>
              </a:rPr>
              <a:t>Portar para WebAssembly sem inventar um backend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DC02F0-A627-4D4A-85D3-1287A468B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33500"/>
            <a:ext cx="1066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B9CEDA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B9CEDA"/>
                </a:solidFill>
                <a:latin typeface="Aptos"/>
                <a:ea typeface="Aptos"/>
                <a:cs typeface="Aptos"/>
              </a:rPr>
              <a:t>Pacote estatico + CDN atende a demonstracao e preserva privacidade.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5ADC257-987A-4006-BD9C-04A43EB54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38375"/>
            <a:ext cx="1809750" cy="1000125"/>
          </a:xfrm>
          <a:prstGeom xmlns:a="http://schemas.openxmlformats.org/drawingml/2006/main" prst="roundRect">
            <a:avLst>
              <a:gd name="adj" fmla="val 15238"/>
            </a:avLst>
          </a:prstGeom>
          <a:solidFill xmlns:a="http://schemas.openxmlformats.org/drawingml/2006/main">
            <a:srgbClr val="123957"/>
          </a:solidFill>
          <a:ln xmlns:a="http://schemas.openxmlformats.org/drawingml/2006/main" w="19050">
            <a:solidFill>
              <a:srgbClr val="2D638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E876B7-287F-416D-9DEC-E804DB185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428875"/>
            <a:ext cx="1581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37E5C1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37E5C1"/>
                </a:solidFill>
                <a:latin typeface="Aptos Display"/>
                <a:ea typeface="Aptos Display"/>
                <a:cs typeface="Aptos Display"/>
              </a:rPr>
              <a:t>PR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B795680-F66C-43F0-AA83-88F0FDD44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819400"/>
            <a:ext cx="1581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F4F7F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F4F7F8"/>
                </a:solidFill>
                <a:latin typeface="Aptos"/>
                <a:ea typeface="Aptos"/>
                <a:cs typeface="Aptos"/>
              </a:rPr>
              <a:t>codigo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4F8D0A6-AAC1-4FE6-9E1E-C1796D78E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2543175"/>
            <a:ext cx="28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37E5C1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37E5C1"/>
                </a:solidFill>
                <a:latin typeface="Aptos Display"/>
                <a:ea typeface="Aptos Display"/>
                <a:cs typeface="Aptos Display"/>
              </a:rPr>
              <a:t>-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7CD16BD-D766-4ED7-BDFC-070D87EF6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238375"/>
            <a:ext cx="1809750" cy="1000125"/>
          </a:xfrm>
          <a:prstGeom xmlns:a="http://schemas.openxmlformats.org/drawingml/2006/main" prst="roundRect">
            <a:avLst>
              <a:gd name="adj" fmla="val 15238"/>
            </a:avLst>
          </a:prstGeom>
          <a:solidFill xmlns:a="http://schemas.openxmlformats.org/drawingml/2006/main">
            <a:srgbClr val="123957"/>
          </a:solidFill>
          <a:ln xmlns:a="http://schemas.openxmlformats.org/drawingml/2006/main" w="19050">
            <a:solidFill>
              <a:srgbClr val="2D638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66CC36D-5447-499A-8BBA-63C737B46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428875"/>
            <a:ext cx="1581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37E5C1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37E5C1"/>
                </a:solidFill>
                <a:latin typeface="Aptos Display"/>
                <a:ea typeface="Aptos Display"/>
                <a:cs typeface="Aptos Display"/>
              </a:rPr>
              <a:t>CI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0407ADA-97AF-4377-BC11-CFD7261CF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819400"/>
            <a:ext cx="1581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F4F7F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F4F7F8"/>
                </a:solidFill>
                <a:latin typeface="Aptos"/>
                <a:ea typeface="Aptos"/>
                <a:cs typeface="Aptos"/>
              </a:rPr>
              <a:t>C + WASM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24FFF55-38EC-4623-82D6-20DDC9E75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543175"/>
            <a:ext cx="28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37E5C1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37E5C1"/>
                </a:solidFill>
                <a:latin typeface="Aptos Display"/>
                <a:ea typeface="Aptos Display"/>
                <a:cs typeface="Aptos Display"/>
              </a:rPr>
              <a:t>-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57405F2-8147-475B-9263-44365BB41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238375"/>
            <a:ext cx="1809750" cy="1000125"/>
          </a:xfrm>
          <a:prstGeom xmlns:a="http://schemas.openxmlformats.org/drawingml/2006/main" prst="roundRect">
            <a:avLst>
              <a:gd name="adj" fmla="val 15238"/>
            </a:avLst>
          </a:prstGeom>
          <a:solidFill xmlns:a="http://schemas.openxmlformats.org/drawingml/2006/main">
            <a:srgbClr val="123957"/>
          </a:solidFill>
          <a:ln xmlns:a="http://schemas.openxmlformats.org/drawingml/2006/main" w="19050">
            <a:solidFill>
              <a:srgbClr val="2D638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85291A0-E448-40CF-8EA9-38100B608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428875"/>
            <a:ext cx="1581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37E5C1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37E5C1"/>
                </a:solidFill>
                <a:latin typeface="Aptos Display"/>
                <a:ea typeface="Aptos Display"/>
                <a:cs typeface="Aptos Display"/>
              </a:rPr>
              <a:t>STAGING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EA79A36-89D6-4328-B0D4-804A08671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819400"/>
            <a:ext cx="1581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F4F7F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F4F7F8"/>
                </a:solidFill>
                <a:latin typeface="Aptos"/>
                <a:ea typeface="Aptos"/>
                <a:cs typeface="Aptos"/>
              </a:rPr>
              <a:t>smoke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574945A-43A7-4DD2-80BC-B8D6ABE12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543175"/>
            <a:ext cx="28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37E5C1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37E5C1"/>
                </a:solidFill>
                <a:latin typeface="Aptos Display"/>
                <a:ea typeface="Aptos Display"/>
                <a:cs typeface="Aptos Display"/>
              </a:rPr>
              <a:t>-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715EBA0-0330-42EE-B435-A14F46AF6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238375"/>
            <a:ext cx="1809750" cy="1000125"/>
          </a:xfrm>
          <a:prstGeom xmlns:a="http://schemas.openxmlformats.org/drawingml/2006/main" prst="roundRect">
            <a:avLst>
              <a:gd name="adj" fmla="val 15238"/>
            </a:avLst>
          </a:prstGeom>
          <a:solidFill xmlns:a="http://schemas.openxmlformats.org/drawingml/2006/main">
            <a:srgbClr val="184877"/>
          </a:solidFill>
          <a:ln xmlns:a="http://schemas.openxmlformats.org/drawingml/2006/main" w="19050">
            <a:solidFill>
              <a:srgbClr val="2D638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0A0BD51-C7AE-4B6E-9411-1F928A53F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428875"/>
            <a:ext cx="1581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AC32D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FAC32D"/>
                </a:solidFill>
                <a:latin typeface="Aptos Display"/>
                <a:ea typeface="Aptos Display"/>
                <a:cs typeface="Aptos Display"/>
              </a:rPr>
              <a:t>APROVACAO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F3A205C-3C0D-49C9-B26D-E72D17DCB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819400"/>
            <a:ext cx="1581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F4F7F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F4F7F8"/>
                </a:solidFill>
                <a:latin typeface="Aptos"/>
                <a:ea typeface="Aptos"/>
                <a:cs typeface="Aptos"/>
              </a:rPr>
              <a:t>gate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1418947-B852-4B3A-BEFB-174BD57C4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543175"/>
            <a:ext cx="28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37E5C1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37E5C1"/>
                </a:solidFill>
                <a:latin typeface="Aptos Display"/>
                <a:ea typeface="Aptos Display"/>
                <a:cs typeface="Aptos Display"/>
              </a:rPr>
              <a:t>-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B6F67F6-D397-4461-8481-708C1753D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238375"/>
            <a:ext cx="1809750" cy="1000125"/>
          </a:xfrm>
          <a:prstGeom xmlns:a="http://schemas.openxmlformats.org/drawingml/2006/main" prst="roundRect">
            <a:avLst>
              <a:gd name="adj" fmla="val 15238"/>
            </a:avLst>
          </a:prstGeom>
          <a:solidFill xmlns:a="http://schemas.openxmlformats.org/drawingml/2006/main">
            <a:srgbClr val="123957"/>
          </a:solidFill>
          <a:ln xmlns:a="http://schemas.openxmlformats.org/drawingml/2006/main" w="19050">
            <a:solidFill>
              <a:srgbClr val="2D638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F49CE21-6F69-4764-ADF6-93E587A6E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428875"/>
            <a:ext cx="1581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37E5C1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37E5C1"/>
                </a:solidFill>
                <a:latin typeface="Aptos Display"/>
                <a:ea typeface="Aptos Display"/>
                <a:cs typeface="Aptos Display"/>
              </a:rPr>
              <a:t>CDN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BB3A43C-E5E0-4821-B1A1-A274EFE6F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819400"/>
            <a:ext cx="1581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F4F7F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F4F7F8"/>
                </a:solidFill>
                <a:latin typeface="Aptos"/>
                <a:ea typeface="Aptos"/>
                <a:cs typeface="Aptos"/>
              </a:rPr>
              <a:t>producao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275518B-C9A6-4C38-A7E1-CA25AB099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57625"/>
            <a:ext cx="3333750" cy="11430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123957"/>
          </a:solidFill>
          <a:ln xmlns:a="http://schemas.openxmlformats.org/drawingml/2006/main" w="19050">
            <a:solidFill>
              <a:srgbClr val="24506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E62A7A7-A742-4DA7-98E4-6F496DE79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29075"/>
            <a:ext cx="2914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37E5C1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37E5C1"/>
                </a:solidFill>
                <a:latin typeface="Aptos Display"/>
                <a:ea typeface="Aptos Display"/>
                <a:cs typeface="Aptos Display"/>
              </a:rPr>
              <a:t>DEMO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CF5DF1F-3079-4011-BACB-859E99469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410075"/>
            <a:ext cx="2914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F4F7F8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F4F7F8"/>
                </a:solidFill>
                <a:latin typeface="Aptos"/>
                <a:ea typeface="Aptos"/>
                <a:cs typeface="Aptos"/>
              </a:rPr>
              <a:t>GitHub Pages ou Cloudflare Pages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C909425-0536-4271-BE07-FA0B6DEE5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857625"/>
            <a:ext cx="3333750" cy="11430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123957"/>
          </a:solidFill>
          <a:ln xmlns:a="http://schemas.openxmlformats.org/drawingml/2006/main" w="19050">
            <a:solidFill>
              <a:srgbClr val="24506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561ABEB-9419-4F30-95AF-5C824AE00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4029075"/>
            <a:ext cx="2914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AC32D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FAC32D"/>
                </a:solidFill>
                <a:latin typeface="Aptos Display"/>
                <a:ea typeface="Aptos Display"/>
                <a:cs typeface="Aptos Display"/>
              </a:rPr>
              <a:t>CLIENTE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C7960DF-A1DA-480E-A8F8-7AE3D0908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4410075"/>
            <a:ext cx="2914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F4F7F8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F4F7F8"/>
                </a:solidFill>
                <a:latin typeface="Aptos"/>
                <a:ea typeface="Aptos"/>
                <a:cs typeface="Aptos"/>
              </a:rPr>
              <a:t>Storage + CDN do provedor adotado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ACBB00A-4AAE-41D4-8EA4-ACB03AD19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857625"/>
            <a:ext cx="3333750" cy="11430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123957"/>
          </a:solidFill>
          <a:ln xmlns:a="http://schemas.openxmlformats.org/drawingml/2006/main" w="19050">
            <a:solidFill>
              <a:srgbClr val="24506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66EDBE5-4412-4720-BB15-028EF70C1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029075"/>
            <a:ext cx="2914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D7364F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D7364F"/>
                </a:solidFill>
                <a:latin typeface="Aptos Display"/>
                <a:ea typeface="Aptos Display"/>
                <a:cs typeface="Aptos Display"/>
              </a:rPr>
              <a:t>SLO INICIAL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AE2869C-0112-429A-8677-DE56827FD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410075"/>
            <a:ext cx="2914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F4F7F8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F4F7F8"/>
                </a:solidFill>
                <a:latin typeface="Aptos"/>
                <a:ea typeface="Aptos"/>
                <a:cs typeface="Aptos"/>
              </a:rPr>
              <a:t>99,5% mensal - RTO 4h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7601C20-B893-446C-B352-61DA429A9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476875"/>
            <a:ext cx="914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4F7F8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F4F7F8"/>
                </a:solidFill>
                <a:latin typeface="Aptos Display"/>
                <a:ea typeface="Aptos Display"/>
                <a:cs typeface="Aptos Display"/>
              </a:rPr>
              <a:t>Gap atual: adaptar loop, save e shell HTML; testar MIME, CSP e navegadores.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9C5F10B-DE70-46AC-A229-66FDA7FB8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990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B9CEDA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B9CEDA"/>
                </a:solidFill>
                <a:latin typeface="Aptos"/>
                <a:ea typeface="Aptos"/>
                <a:cs typeface="Aptos"/>
              </a:rPr>
              <a:t>Artefatos do projeto - metas propostas, nao resultados medidos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15A9865-051E-4CFA-9093-BC18FF813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37E5C1"/>
                </a:solidFill>
                <a:latin typeface="Aptos Display"/>
                <a:ea typeface="Aptos Display"/>
                <a:cs typeface="Aptos Display"/>
              </a:defRPr>
            </a:pPr>
            <a:r>
              <a:rPr sz="900" b="1">
                <a:solidFill>
                  <a:srgbClr val="37E5C1"/>
                </a:solidFill>
                <a:latin typeface="Aptos Display"/>
                <a:ea typeface="Aptos Display"/>
                <a:cs typeface="Aptos Display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15066564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81F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4276CF6-99CF-464E-891F-950BF97AA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37E5C1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37E5C1"/>
                </a:solidFill>
                <a:latin typeface="Aptos Display"/>
                <a:ea typeface="Aptos Display"/>
                <a:cs typeface="Aptos Display"/>
              </a:rPr>
              <a:t>GESTAO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05BD42-A8B1-43A6-A916-2D04B1525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6200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F4F7F8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4F7F8"/>
                </a:solidFill>
                <a:latin typeface="Aptos Display"/>
                <a:ea typeface="Aptos Display"/>
                <a:cs typeface="Aptos Display"/>
              </a:rPr>
              <a:t>GitHub transforma o prototipo em trabalho auditavel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25D5056-F7CB-4C5D-880C-7FEB2C9C8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33500"/>
            <a:ext cx="1066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B9CEDA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B9CEDA"/>
                </a:solidFill>
                <a:latin typeface="Aptos"/>
                <a:ea typeface="Aptos"/>
                <a:cs typeface="Aptos"/>
              </a:rPr>
              <a:t>Kanban, marcos, issues e Definition of Done sustentam a evolucao.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79D5EE-2BFE-4EC6-850C-F1FE96A50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1524000" cy="781050"/>
          </a:xfrm>
          <a:prstGeom xmlns:a="http://schemas.openxmlformats.org/drawingml/2006/main" prst="roundRect">
            <a:avLst>
              <a:gd name="adj" fmla="val 17073"/>
            </a:avLst>
          </a:prstGeom>
          <a:solidFill xmlns:a="http://schemas.openxmlformats.org/drawingml/2006/main">
            <a:srgbClr val="123957"/>
          </a:solidFill>
          <a:ln xmlns:a="http://schemas.openxmlformats.org/drawingml/2006/main" w="19050">
            <a:solidFill>
              <a:srgbClr val="2D638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D81E39-6E43-4AB1-9315-964AFBE59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52675"/>
            <a:ext cx="133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37E5C1"/>
                </a:solidFill>
                <a:latin typeface="Aptos Display"/>
                <a:ea typeface="Aptos Display"/>
                <a:cs typeface="Aptos Display"/>
              </a:defRPr>
            </a:pPr>
            <a:r>
              <a:rPr sz="1050" b="1">
                <a:solidFill>
                  <a:srgbClr val="37E5C1"/>
                </a:solidFill>
                <a:latin typeface="Aptos Display"/>
                <a:ea typeface="Aptos Display"/>
                <a:cs typeface="Aptos Display"/>
              </a:rPr>
              <a:t>BACKLOG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1ACD80-42C8-4965-9930-C57F8E1C7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2295525"/>
            <a:ext cx="266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37E5C1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37E5C1"/>
                </a:solidFill>
                <a:latin typeface="Aptos Display"/>
                <a:ea typeface="Aptos Display"/>
                <a:cs typeface="Aptos Display"/>
              </a:rPr>
              <a:t>-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5D57E1-7B3B-4677-84EC-642678180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095500"/>
            <a:ext cx="1524000" cy="781050"/>
          </a:xfrm>
          <a:prstGeom xmlns:a="http://schemas.openxmlformats.org/drawingml/2006/main" prst="roundRect">
            <a:avLst>
              <a:gd name="adj" fmla="val 17073"/>
            </a:avLst>
          </a:prstGeom>
          <a:solidFill xmlns:a="http://schemas.openxmlformats.org/drawingml/2006/main">
            <a:srgbClr val="123957"/>
          </a:solidFill>
          <a:ln xmlns:a="http://schemas.openxmlformats.org/drawingml/2006/main" w="19050">
            <a:solidFill>
              <a:srgbClr val="2D638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2A7E25E-189A-4962-83C1-017A09B70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352675"/>
            <a:ext cx="133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37E5C1"/>
                </a:solidFill>
                <a:latin typeface="Aptos Display"/>
                <a:ea typeface="Aptos Display"/>
                <a:cs typeface="Aptos Display"/>
              </a:defRPr>
            </a:pPr>
            <a:r>
              <a:rPr sz="1050" b="1">
                <a:solidFill>
                  <a:srgbClr val="37E5C1"/>
                </a:solidFill>
                <a:latin typeface="Aptos Display"/>
                <a:ea typeface="Aptos Display"/>
                <a:cs typeface="Aptos Display"/>
              </a:rPr>
              <a:t>PRONTO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7189476-C019-476F-859C-6128E405A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295525"/>
            <a:ext cx="266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37E5C1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37E5C1"/>
                </a:solidFill>
                <a:latin typeface="Aptos Display"/>
                <a:ea typeface="Aptos Display"/>
                <a:cs typeface="Aptos Display"/>
              </a:rPr>
              <a:t>-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1865792-E9E6-4641-B55D-528A4D5BB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095500"/>
            <a:ext cx="1524000" cy="781050"/>
          </a:xfrm>
          <a:prstGeom xmlns:a="http://schemas.openxmlformats.org/drawingml/2006/main" prst="roundRect">
            <a:avLst>
              <a:gd name="adj" fmla="val 17073"/>
            </a:avLst>
          </a:prstGeom>
          <a:solidFill xmlns:a="http://schemas.openxmlformats.org/drawingml/2006/main">
            <a:srgbClr val="123957"/>
          </a:solidFill>
          <a:ln xmlns:a="http://schemas.openxmlformats.org/drawingml/2006/main" w="19050">
            <a:solidFill>
              <a:srgbClr val="2D638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2A2EB91-AED0-43E8-A1DC-75B2DEBEB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352675"/>
            <a:ext cx="133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37E5C1"/>
                </a:solidFill>
                <a:latin typeface="Aptos Display"/>
                <a:ea typeface="Aptos Display"/>
                <a:cs typeface="Aptos Display"/>
              </a:defRPr>
            </a:pPr>
            <a:r>
              <a:rPr sz="1050" b="1">
                <a:solidFill>
                  <a:srgbClr val="37E5C1"/>
                </a:solidFill>
                <a:latin typeface="Aptos Display"/>
                <a:ea typeface="Aptos Display"/>
                <a:cs typeface="Aptos Display"/>
              </a:rPr>
              <a:t>EM ANDAMENTO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B037328-89F2-456E-8B95-807F571EF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295525"/>
            <a:ext cx="266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37E5C1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37E5C1"/>
                </a:solidFill>
                <a:latin typeface="Aptos Display"/>
                <a:ea typeface="Aptos Display"/>
                <a:cs typeface="Aptos Display"/>
              </a:rPr>
              <a:t>-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20AE7C3-EDBD-403D-A7DD-EABFB5EC0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095500"/>
            <a:ext cx="1524000" cy="781050"/>
          </a:xfrm>
          <a:prstGeom xmlns:a="http://schemas.openxmlformats.org/drawingml/2006/main" prst="roundRect">
            <a:avLst>
              <a:gd name="adj" fmla="val 17073"/>
            </a:avLst>
          </a:prstGeom>
          <a:solidFill xmlns:a="http://schemas.openxmlformats.org/drawingml/2006/main">
            <a:srgbClr val="123957"/>
          </a:solidFill>
          <a:ln xmlns:a="http://schemas.openxmlformats.org/drawingml/2006/main" w="19050">
            <a:solidFill>
              <a:srgbClr val="2D638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78B9BF-2DEA-4897-A396-997136DCE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352675"/>
            <a:ext cx="133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37E5C1"/>
                </a:solidFill>
                <a:latin typeface="Aptos Display"/>
                <a:ea typeface="Aptos Display"/>
                <a:cs typeface="Aptos Display"/>
              </a:defRPr>
            </a:pPr>
            <a:r>
              <a:rPr sz="1050" b="1">
                <a:solidFill>
                  <a:srgbClr val="37E5C1"/>
                </a:solidFill>
                <a:latin typeface="Aptos Display"/>
                <a:ea typeface="Aptos Display"/>
                <a:cs typeface="Aptos Display"/>
              </a:rPr>
              <a:t>EM REVISAO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B0BCF20-5C33-4375-9098-34512AE03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2295525"/>
            <a:ext cx="266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37E5C1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37E5C1"/>
                </a:solidFill>
                <a:latin typeface="Aptos Display"/>
                <a:ea typeface="Aptos Display"/>
                <a:cs typeface="Aptos Display"/>
              </a:rPr>
              <a:t>-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AAA5916-E983-4109-A5CC-500AD8947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095500"/>
            <a:ext cx="1524000" cy="781050"/>
          </a:xfrm>
          <a:prstGeom xmlns:a="http://schemas.openxmlformats.org/drawingml/2006/main" prst="roundRect">
            <a:avLst>
              <a:gd name="adj" fmla="val 17073"/>
            </a:avLst>
          </a:prstGeom>
          <a:solidFill xmlns:a="http://schemas.openxmlformats.org/drawingml/2006/main">
            <a:srgbClr val="123957"/>
          </a:solidFill>
          <a:ln xmlns:a="http://schemas.openxmlformats.org/drawingml/2006/main" w="19050">
            <a:solidFill>
              <a:srgbClr val="2D638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8E66C2B-6411-4EC0-A93E-6FDB76CE8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2352675"/>
            <a:ext cx="133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37E5C1"/>
                </a:solidFill>
                <a:latin typeface="Aptos Display"/>
                <a:ea typeface="Aptos Display"/>
                <a:cs typeface="Aptos Display"/>
              </a:defRPr>
            </a:pPr>
            <a:r>
              <a:rPr sz="1050" b="1">
                <a:solidFill>
                  <a:srgbClr val="37E5C1"/>
                </a:solidFill>
                <a:latin typeface="Aptos Display"/>
                <a:ea typeface="Aptos Display"/>
                <a:cs typeface="Aptos Display"/>
              </a:rPr>
              <a:t>VALIDACAO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DDAFAAD-89CF-48B6-BFF1-54840DEC6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295525"/>
            <a:ext cx="266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37E5C1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37E5C1"/>
                </a:solidFill>
                <a:latin typeface="Aptos Display"/>
                <a:ea typeface="Aptos Display"/>
                <a:cs typeface="Aptos Display"/>
              </a:rPr>
              <a:t>-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2C9B7D6-6787-4B77-9AF9-A3D8E34DA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2095500"/>
            <a:ext cx="1524000" cy="781050"/>
          </a:xfrm>
          <a:prstGeom xmlns:a="http://schemas.openxmlformats.org/drawingml/2006/main" prst="roundRect">
            <a:avLst>
              <a:gd name="adj" fmla="val 17073"/>
            </a:avLst>
          </a:prstGeom>
          <a:solidFill xmlns:a="http://schemas.openxmlformats.org/drawingml/2006/main">
            <a:srgbClr val="184877"/>
          </a:solidFill>
          <a:ln xmlns:a="http://schemas.openxmlformats.org/drawingml/2006/main" w="19050">
            <a:solidFill>
              <a:srgbClr val="2D638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B3214F8-50E2-4FF0-B6B9-DF8A3468F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2352675"/>
            <a:ext cx="133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FAC32D"/>
                </a:solidFill>
                <a:latin typeface="Aptos Display"/>
                <a:ea typeface="Aptos Display"/>
                <a:cs typeface="Aptos Display"/>
              </a:defRPr>
            </a:pPr>
            <a:r>
              <a:rPr sz="1050" b="1">
                <a:solidFill>
                  <a:srgbClr val="FAC32D"/>
                </a:solidFill>
                <a:latin typeface="Aptos Display"/>
                <a:ea typeface="Aptos Display"/>
                <a:cs typeface="Aptos Display"/>
              </a:rPr>
              <a:t>CONCLUIDO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DF09686-E759-4D1F-AFF4-47FE536F1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67125"/>
            <a:ext cx="2476500" cy="1285875"/>
          </a:xfrm>
          <a:prstGeom xmlns:a="http://schemas.openxmlformats.org/drawingml/2006/main" prst="roundRect">
            <a:avLst>
              <a:gd name="adj" fmla="val 11852"/>
            </a:avLst>
          </a:prstGeom>
          <a:solidFill xmlns:a="http://schemas.openxmlformats.org/drawingml/2006/main">
            <a:srgbClr val="123957"/>
          </a:solidFill>
          <a:ln xmlns:a="http://schemas.openxmlformats.org/drawingml/2006/main" w="19050">
            <a:solidFill>
              <a:srgbClr val="2D638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2160496-9A1E-4DD6-85B5-1DD22FC68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829050"/>
            <a:ext cx="5143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AC32D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081F3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81F3A"/>
                </a:solidFill>
                <a:latin typeface="Aptos"/>
                <a:ea typeface="Aptos"/>
                <a:cs typeface="Aptos"/>
              </a:rPr>
              <a:t>M1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465DDF9-274D-44EB-B02F-3A49A6F75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30530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F4F7F8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F4F7F8"/>
                </a:solidFill>
                <a:latin typeface="Aptos Display"/>
                <a:ea typeface="Aptos Display"/>
                <a:cs typeface="Aptos Display"/>
              </a:rPr>
              <a:t>Banca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471B1D5-9224-43A9-A69A-79CC8A0DF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638675"/>
            <a:ext cx="2095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B9CED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B9CEDA"/>
                </a:solidFill>
                <a:latin typeface="Aptos"/>
                <a:ea typeface="Aptos"/>
                <a:cs typeface="Aptos"/>
              </a:rPr>
              <a:t>v0.3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CD6C778-E79F-47BA-B5E0-0919B3E0E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3667125"/>
            <a:ext cx="2476500" cy="1285875"/>
          </a:xfrm>
          <a:prstGeom xmlns:a="http://schemas.openxmlformats.org/drawingml/2006/main" prst="roundRect">
            <a:avLst>
              <a:gd name="adj" fmla="val 11852"/>
            </a:avLst>
          </a:prstGeom>
          <a:solidFill xmlns:a="http://schemas.openxmlformats.org/drawingml/2006/main">
            <a:srgbClr val="123957"/>
          </a:solidFill>
          <a:ln xmlns:a="http://schemas.openxmlformats.org/drawingml/2006/main" w="19050">
            <a:solidFill>
              <a:srgbClr val="2D638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1E65CC8-5B5F-4A3E-A724-DA82B294A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829050"/>
            <a:ext cx="5143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7E5C1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081F3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81F3A"/>
                </a:solidFill>
                <a:latin typeface="Aptos"/>
                <a:ea typeface="Aptos"/>
                <a:cs typeface="Aptos"/>
              </a:rPr>
              <a:t>M2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BC1E644-FE52-4C94-ACEE-848855FFF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30530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F4F7F8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F4F7F8"/>
                </a:solidFill>
                <a:latin typeface="Aptos Display"/>
                <a:ea typeface="Aptos Display"/>
                <a:cs typeface="Aptos Display"/>
              </a:rPr>
              <a:t>Validacao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D0AFB79-EF4F-4A76-9E43-6CA56549D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638675"/>
            <a:ext cx="2095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B9CED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B9CEDA"/>
                </a:solidFill>
                <a:latin typeface="Aptos"/>
                <a:ea typeface="Aptos"/>
                <a:cs typeface="Aptos"/>
              </a:rPr>
              <a:t>v0.4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92762F8-F65F-4003-8D6D-C90993E57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67125"/>
            <a:ext cx="2476500" cy="1285875"/>
          </a:xfrm>
          <a:prstGeom xmlns:a="http://schemas.openxmlformats.org/drawingml/2006/main" prst="roundRect">
            <a:avLst>
              <a:gd name="adj" fmla="val 11852"/>
            </a:avLst>
          </a:prstGeom>
          <a:solidFill xmlns:a="http://schemas.openxmlformats.org/drawingml/2006/main">
            <a:srgbClr val="123957"/>
          </a:solidFill>
          <a:ln xmlns:a="http://schemas.openxmlformats.org/drawingml/2006/main" w="19050">
            <a:solidFill>
              <a:srgbClr val="2D638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C71A6C1-B4FE-4B28-999E-CBAA2FA06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829050"/>
            <a:ext cx="5143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7E5C1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081F3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81F3A"/>
                </a:solidFill>
                <a:latin typeface="Aptos"/>
                <a:ea typeface="Aptos"/>
                <a:cs typeface="Aptos"/>
              </a:rPr>
              <a:t>M3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91D2781-05E8-4A5C-A47D-D69A58DEA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30530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F4F7F8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F4F7F8"/>
                </a:solidFill>
                <a:latin typeface="Aptos Display"/>
                <a:ea typeface="Aptos Display"/>
                <a:cs typeface="Aptos Display"/>
              </a:rPr>
              <a:t>MVP Web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C64CAD1-D2B6-4139-BF15-F6D31B5D2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638675"/>
            <a:ext cx="2095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B9CED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B9CEDA"/>
                </a:solidFill>
                <a:latin typeface="Aptos"/>
                <a:ea typeface="Aptos"/>
                <a:cs typeface="Aptos"/>
              </a:rPr>
              <a:t>v0.5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91D7273-9E28-4D84-8470-1B71DF172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3667125"/>
            <a:ext cx="2476500" cy="1285875"/>
          </a:xfrm>
          <a:prstGeom xmlns:a="http://schemas.openxmlformats.org/drawingml/2006/main" prst="roundRect">
            <a:avLst>
              <a:gd name="adj" fmla="val 11852"/>
            </a:avLst>
          </a:prstGeom>
          <a:solidFill xmlns:a="http://schemas.openxmlformats.org/drawingml/2006/main">
            <a:srgbClr val="123957"/>
          </a:solidFill>
          <a:ln xmlns:a="http://schemas.openxmlformats.org/drawingml/2006/main" w="19050">
            <a:solidFill>
              <a:srgbClr val="2D638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C8E999B-E90D-41ED-B6CE-3ED478D46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829050"/>
            <a:ext cx="5143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7E5C1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081F3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81F3A"/>
                </a:solidFill>
                <a:latin typeface="Aptos"/>
                <a:ea typeface="Aptos"/>
                <a:cs typeface="Aptos"/>
              </a:rPr>
              <a:t>M4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A639752-A522-4A1A-B2FB-D7E9B707B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30530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F4F7F8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F4F7F8"/>
                </a:solidFill>
                <a:latin typeface="Aptos Display"/>
                <a:ea typeface="Aptos Display"/>
                <a:cs typeface="Aptos Display"/>
              </a:rPr>
              <a:t>Piloto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BC53CCE-5253-44F8-B7CC-5E4101778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638675"/>
            <a:ext cx="2095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B9CED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B9CEDA"/>
                </a:solidFill>
                <a:latin typeface="Aptos"/>
                <a:ea typeface="Aptos"/>
                <a:cs typeface="Aptos"/>
              </a:rPr>
              <a:t>v0.6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4EB62E6-249F-4058-8662-F7B4E7532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476875"/>
            <a:ext cx="9334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F4F7F8"/>
                </a:solidFill>
                <a:latin typeface="Aptos Display"/>
                <a:ea typeface="Aptos Display"/>
                <a:cs typeface="Aptos Display"/>
              </a:defRPr>
            </a:pPr>
            <a:r>
              <a:rPr sz="1425" b="1">
                <a:solidFill>
                  <a:srgbClr val="F4F7F8"/>
                </a:solidFill>
                <a:latin typeface="Aptos Display"/>
                <a:ea typeface="Aptos Display"/>
                <a:cs typeface="Aptos Display"/>
              </a:rPr>
              <a:t>WIP: ate 2 itens em andamento por pessoa - toda mudanca liga issue - PR - evidencia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A896B12-2FEE-4789-B12A-6412EC1AD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990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B9CEDA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B9CEDA"/>
                </a:solidFill>
                <a:latin typeface="Aptos"/>
                <a:ea typeface="Aptos"/>
                <a:cs typeface="Aptos"/>
              </a:rPr>
              <a:t>Artefatos do projeto - metas propostas, nao resultados medidos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568D310-86C2-46ED-A6B6-B56A51000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37E5C1"/>
                </a:solidFill>
                <a:latin typeface="Aptos Display"/>
                <a:ea typeface="Aptos Display"/>
                <a:cs typeface="Aptos Display"/>
              </a:defRPr>
            </a:pPr>
            <a:r>
              <a:rPr sz="900" b="1">
                <a:solidFill>
                  <a:srgbClr val="37E5C1"/>
                </a:solidFill>
                <a:latin typeface="Aptos Display"/>
                <a:ea typeface="Aptos Display"/>
                <a:cs typeface="Aptos Display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585762968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81F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3E7750B-265B-4791-A922-5D99A5235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7145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AC32D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081F3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81F3A"/>
                </a:solidFill>
                <a:latin typeface="Aptos"/>
                <a:ea typeface="Aptos"/>
                <a:cs typeface="Aptos"/>
              </a:rPr>
              <a:t>PROXIMA DECISAO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02D3FAD-2DE3-4749-8C8B-6AC1F568D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85875"/>
            <a:ext cx="781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F4F7F8"/>
                </a:solidFill>
                <a:latin typeface="Aptos Display"/>
                <a:ea typeface="Aptos Display"/>
                <a:cs typeface="Aptos Display"/>
              </a:defRPr>
            </a:pPr>
            <a:r>
              <a:rPr sz="3600" b="1">
                <a:solidFill>
                  <a:srgbClr val="F4F7F8"/>
                </a:solidFill>
                <a:latin typeface="Aptos Display"/>
                <a:ea typeface="Aptos Display"/>
                <a:cs typeface="Aptos Display"/>
              </a:rPr>
              <a:t>Validar antes de escalar.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FDB856D-CF2C-48B7-B55C-77966D726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43125"/>
            <a:ext cx="8858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37E5C1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37E5C1"/>
                </a:solidFill>
                <a:latin typeface="Aptos Display"/>
                <a:ea typeface="Aptos Display"/>
                <a:cs typeface="Aptos Display"/>
              </a:rPr>
              <a:t>Conteudo especializado - testes com adolescentes - acessibilidade P1 - WebAssembly.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2C4588-EA6E-48C5-96BF-A8363EBF2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0"/>
            <a:ext cx="2476500" cy="142875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123957"/>
          </a:solidFill>
          <a:ln xmlns:a="http://schemas.openxmlformats.org/drawingml/2006/main" w="19050">
            <a:solidFill>
              <a:srgbClr val="2D638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BCDC814-EA01-422E-A5AE-F71FE4C72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600450"/>
            <a:ext cx="4000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7E5C1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081F3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81F3A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1AE9F4-A049-40A2-B81A-EE90D5631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048125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F4F7F8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F4F7F8"/>
                </a:solidFill>
                <a:latin typeface="Aptos Display"/>
                <a:ea typeface="Aptos Display"/>
                <a:cs typeface="Aptos Display"/>
              </a:rPr>
              <a:t>Revisar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C997483-7CD9-4B0D-ABFE-C0FB9EDCB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429125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B9CED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B9CEDA"/>
                </a:solidFill>
                <a:latin typeface="Aptos"/>
                <a:ea typeface="Aptos"/>
                <a:cs typeface="Aptos"/>
              </a:rPr>
              <a:t>quinze categorias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2D9E2B-730B-4313-9AFD-F2A858ECB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3429000"/>
            <a:ext cx="2476500" cy="142875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123957"/>
          </a:solidFill>
          <a:ln xmlns:a="http://schemas.openxmlformats.org/drawingml/2006/main" w="19050">
            <a:solidFill>
              <a:srgbClr val="2D638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62DBBE-6F14-4329-B975-F727E0A8F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600450"/>
            <a:ext cx="4000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7E5C1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081F3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81F3A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F61DE45-419B-4386-A899-2B03302F0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048125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F4F7F8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F4F7F8"/>
                </a:solidFill>
                <a:latin typeface="Aptos Display"/>
                <a:ea typeface="Aptos Display"/>
                <a:cs typeface="Aptos Display"/>
              </a:rPr>
              <a:t>Testar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CC141ED-2243-4F0D-ABEB-EEB7D5103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429125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B9CED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B9CEDA"/>
                </a:solidFill>
                <a:latin typeface="Aptos"/>
                <a:ea typeface="Aptos"/>
                <a:cs typeface="Aptos"/>
              </a:rPr>
              <a:t>5-8 sessoes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22CAC18-7383-4DC3-973A-89EDE9E42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429000"/>
            <a:ext cx="2476500" cy="142875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123957"/>
          </a:solidFill>
          <a:ln xmlns:a="http://schemas.openxmlformats.org/drawingml/2006/main" w="19050">
            <a:solidFill>
              <a:srgbClr val="2D638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291D9F8-F8A6-480D-9755-684728543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600450"/>
            <a:ext cx="4000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7E5C1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081F3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81F3A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AC91895-B351-40D7-8FA5-DF024BA0B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048125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F4F7F8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F4F7F8"/>
                </a:solidFill>
                <a:latin typeface="Aptos Display"/>
                <a:ea typeface="Aptos Display"/>
                <a:cs typeface="Aptos Display"/>
              </a:rPr>
              <a:t>Medir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DED0C9A-01CA-489C-A6D8-B463A8512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429125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B9CED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B9CEDA"/>
                </a:solidFill>
                <a:latin typeface="Aptos"/>
                <a:ea typeface="Aptos"/>
                <a:cs typeface="Aptos"/>
              </a:rPr>
              <a:t>pre/pos + SUS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824DDB5-C35E-4F55-962C-F990B2D4E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3429000"/>
            <a:ext cx="2476500" cy="142875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184877"/>
          </a:solidFill>
          <a:ln xmlns:a="http://schemas.openxmlformats.org/drawingml/2006/main" w="19050">
            <a:solidFill>
              <a:srgbClr val="2D638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BBB2B37-D9B1-40EC-B41A-3FCFBA465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600450"/>
            <a:ext cx="4000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AC32D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081F3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81F3A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3DF00E3-763F-409D-9A39-1D891A1F9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048125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F4F7F8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F4F7F8"/>
                </a:solidFill>
                <a:latin typeface="Aptos Display"/>
                <a:ea typeface="Aptos Display"/>
                <a:cs typeface="Aptos Display"/>
              </a:rPr>
              <a:t>Publicar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DE5CC9F-2009-489C-A1C1-CD239326E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429125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B9CED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B9CEDA"/>
                </a:solidFill>
                <a:latin typeface="Aptos"/>
                <a:ea typeface="Aptos"/>
                <a:cs typeface="Aptos"/>
              </a:rPr>
              <a:t>com gates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F5B9B6B-C1BB-4D1F-B0E8-AE880AACA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19750"/>
            <a:ext cx="10820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AC32D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FAC32D"/>
                </a:solidFill>
                <a:latin typeface="Aptos Display"/>
                <a:ea typeface="Aptos Display"/>
                <a:cs typeface="Aptos Display"/>
              </a:rPr>
              <a:t>IA: OpenAI Codex (GPT-5) apoiou desenvolvimento e documentacao. O jogo nao usa IA em runtime.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13091EB-8D26-4BBC-A202-2D0EB8DD5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48375"/>
            <a:ext cx="10820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F4F7F8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F4F7F8"/>
                </a:solidFill>
                <a:latin typeface="Aptos Display"/>
                <a:ea typeface="Aptos Display"/>
                <a:cs typeface="Aptos Display"/>
              </a:rPr>
              <a:t>Obrigado.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8F1E741-D283-46B9-9644-E92B9657C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990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B9CEDA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B9CEDA"/>
                </a:solidFill>
                <a:latin typeface="Aptos"/>
                <a:ea typeface="Aptos"/>
                <a:cs typeface="Aptos"/>
              </a:rPr>
              <a:t>Projeto academico ficticio - sem afiliacao oficial com a PCDF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5471356-9834-4D70-A7C5-4CA0D2826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37E5C1"/>
                </a:solidFill>
                <a:latin typeface="Aptos Display"/>
                <a:ea typeface="Aptos Display"/>
                <a:cs typeface="Aptos Display"/>
              </a:defRPr>
            </a:pPr>
            <a:r>
              <a:rPr sz="900" b="1">
                <a:solidFill>
                  <a:srgbClr val="37E5C1"/>
                </a:solidFill>
                <a:latin typeface="Aptos Display"/>
                <a:ea typeface="Aptos Display"/>
                <a:cs typeface="Aptos Display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48154252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2026-06-23T13:42:39.2140000Z</dcterms:created>
  <dcterms:modified xsi:type="dcterms:W3CDTF">2026-06-23T13:42:39.2140000Z</dcterms:modified>
</coreProperties>
</file>